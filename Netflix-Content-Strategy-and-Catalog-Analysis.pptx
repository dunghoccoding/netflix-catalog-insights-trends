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1695" cy="6858000"/>
  <p:notesSz cx="6858000" cy="12191695"/>
  <p:embeddedFontLst>
    <p:embeddedFont>
      <p:font typeface="Bricolage Grotesque Bold"/>
      <p:regular r:id="rId201314"/>
    </p:embeddedFont>
    <p:embeddedFont>
      <p:font typeface="Bricolage Grotesque"/>
      <p:regular r:id="rId201315"/>
    </p:embeddedFont>
    <p:embeddedFont>
      <p:font typeface="Bricolage Grotesque SemiBold"/>
      <p:regular r:id="rId201316"/>
    </p:embeddedFont>
    <p:embeddedFont>
      <p:font typeface="Inter SemiBold"/>
      <p:regular r:id="rId201317"/>
    </p:embeddedFont>
    <p:embeddedFont>
      <p:font typeface="Inter Bold"/>
      <p:regular r:id="rId201318"/>
    </p:embeddedFont>
    <p:embeddedFont>
      <p:font typeface="Inter"/>
      <p:regular r:id="rId201319"/>
    </p:embeddedFont>
    <p:embeddedFont>
      <p:font typeface="Inter Black"/>
      <p:regular r:id="rId2013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FFF">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1.png"/><Relationship Id="rId4" Type="http://schemas.openxmlformats.org/officeDocument/2006/relationships/image" Target="../media/image-2-2.svg"/><Relationship Id="rId5" Type="http://schemas.openxmlformats.org/officeDocument/2006/relationships/image" Target="../media/image-2-1.png"/><Relationship Id="rId6" Type="http://schemas.openxmlformats.org/officeDocument/2006/relationships/image" Target="../media/image-2-2.sv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image" Target="../media/image-7-4.png"/><Relationship Id="rId5" Type="http://schemas.openxmlformats.org/officeDocument/2006/relationships/image" Target="../media/image-7-5.svg"/><Relationship Id="rId6" Type="http://schemas.openxmlformats.org/officeDocument/2006/relationships/image" Target="../media/image-7-6.png"/><Relationship Id="rId7" Type="http://schemas.openxmlformats.org/officeDocument/2006/relationships/image" Target="../media/image-7-7.svg"/><Relationship Id="rId8" Type="http://schemas.openxmlformats.org/officeDocument/2006/relationships/slideLayout" Target="../slideLayouts/slideLayout2.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1.png"/><Relationship Id="rId4" Type="http://schemas.openxmlformats.org/officeDocument/2006/relationships/image" Target="../media/image-8-2.svg"/><Relationship Id="rId5" Type="http://schemas.openxmlformats.org/officeDocument/2006/relationships/image" Target="../media/image-8-1.png"/><Relationship Id="rId6" Type="http://schemas.openxmlformats.org/officeDocument/2006/relationships/image" Target="../media/image-8-2.svg"/><Relationship Id="rId7" Type="http://schemas.openxmlformats.org/officeDocument/2006/relationships/image" Target="../media/image-8-1.png"/><Relationship Id="rId8" Type="http://schemas.openxmlformats.org/officeDocument/2006/relationships/image" Target="../media/image-8-2.sv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489248"/>
            <a:ext cx="4667133" cy="3111500"/>
          </a:xfrm>
          <a:prstGeom prst="rect">
            <a:avLst/>
          </a:prstGeom>
        </p:spPr>
      </p:pic>
      <p:sp>
        <p:nvSpPr>
          <p:cNvPr id="3" name="Text 0"/>
          <p:cNvSpPr/>
          <p:nvPr/>
        </p:nvSpPr>
        <p:spPr>
          <a:xfrm>
            <a:off x="661475" y="3746103"/>
            <a:ext cx="10868745" cy="395684"/>
          </a:xfrm>
          <a:prstGeom prst="rect">
            <a:avLst/>
          </a:prstGeom>
          <a:noFill/>
          <a:ln/>
        </p:spPr>
        <p:txBody>
          <a:bodyPr wrap="none" lIns="0" tIns="0" rIns="0" bIns="0" rtlCol="0" anchor="t"/>
          <a:lstStyle/>
          <a:p>
            <a:pPr algn="l" indent="0" marL="0">
              <a:lnSpc>
                <a:spcPct val="104000"/>
              </a:lnSpc>
              <a:buNone/>
            </a:pPr>
            <a:r>
              <a:rPr lang="en-US" sz="2450" dirty="0">
                <a:solidFill>
                  <a:srgbClr val="2C2926"/>
                </a:solidFill>
                <a:latin typeface="Bricolage Grotesque SemiBold" pitchFamily="34" charset="0"/>
                <a:ea typeface="Bricolage Grotesque SemiBold" pitchFamily="34" charset="-122"/>
                <a:cs typeface="Bricolage Grotesque SemiBold" pitchFamily="34" charset="-120"/>
              </a:rPr>
              <a:t>Netflix Content Strategy &amp; Catalog Analysis</a:t>
            </a:r>
            <a:endParaRPr lang="en-US" sz="2450" dirty="0"/>
          </a:p>
        </p:txBody>
      </p:sp>
      <p:sp>
        <p:nvSpPr>
          <p:cNvPr id="4" name="Text 1"/>
          <p:cNvSpPr/>
          <p:nvPr/>
        </p:nvSpPr>
        <p:spPr>
          <a:xfrm>
            <a:off x="661475" y="4287143"/>
            <a:ext cx="11478330" cy="178792"/>
          </a:xfrm>
          <a:prstGeom prst="rect">
            <a:avLst/>
          </a:prstGeom>
          <a:noFill/>
          <a:ln/>
        </p:spPr>
        <p:txBody>
          <a:bodyPr wrap="none" lIns="0" tIns="0" rIns="0" bIns="0" rtlCol="0" anchor="t"/>
          <a:lstStyle/>
          <a:p>
            <a:pPr algn="l" indent="0" marL="0">
              <a:lnSpc>
                <a:spcPct val="118000"/>
              </a:lnSpc>
              <a:buNone/>
            </a:pPr>
            <a:r>
              <a:rPr lang="en-US" sz="950" dirty="0">
                <a:solidFill>
                  <a:srgbClr val="2C2926"/>
                </a:solidFill>
                <a:latin typeface="Inter" pitchFamily="34" charset="0"/>
                <a:ea typeface="Inter" pitchFamily="34" charset="-122"/>
                <a:cs typeface="Inter" pitchFamily="34" charset="-120"/>
              </a:rPr>
              <a:t>Khám phá dữ liệu và trực quan hóa chiến lược nội dung</a:t>
            </a:r>
            <a:endParaRPr lang="en-US" sz="950" dirty="0"/>
          </a:p>
        </p:txBody>
      </p:sp>
      <p:sp>
        <p:nvSpPr>
          <p:cNvPr id="5" name="Shape 2"/>
          <p:cNvSpPr/>
          <p:nvPr/>
        </p:nvSpPr>
        <p:spPr>
          <a:xfrm>
            <a:off x="661475" y="4684018"/>
            <a:ext cx="1305190" cy="192286"/>
          </a:xfrm>
          <a:prstGeom prst="roundRect">
            <a:avLst>
              <a:gd name="adj" fmla="val 22127"/>
            </a:avLst>
          </a:prstGeom>
          <a:solidFill>
            <a:srgbClr val="F8ECD3"/>
          </a:solidFill>
          <a:ln/>
        </p:spPr>
      </p:sp>
      <p:sp>
        <p:nvSpPr>
          <p:cNvPr id="6" name="Text 3"/>
          <p:cNvSpPr/>
          <p:nvPr/>
        </p:nvSpPr>
        <p:spPr>
          <a:xfrm>
            <a:off x="737375" y="4721920"/>
            <a:ext cx="1762974" cy="116483"/>
          </a:xfrm>
          <a:prstGeom prst="rect">
            <a:avLst/>
          </a:prstGeom>
          <a:noFill/>
          <a:ln/>
        </p:spPr>
        <p:txBody>
          <a:bodyPr wrap="none" lIns="0" tIns="0" rIns="0" bIns="0" rtlCol="0" anchor="t"/>
          <a:lstStyle/>
          <a:p>
            <a:pPr algn="l" indent="0" marL="0">
              <a:lnSpc>
                <a:spcPct val="96000"/>
              </a:lnSpc>
              <a:buNone/>
            </a:pPr>
            <a:r>
              <a:rPr lang="en-US" sz="750" dirty="0">
                <a:solidFill>
                  <a:srgbClr val="2C2926"/>
                </a:solidFill>
                <a:latin typeface="Inter" pitchFamily="34" charset="0"/>
                <a:ea typeface="Inter" pitchFamily="34" charset="-122"/>
                <a:cs typeface="Inter" pitchFamily="34" charset="-120"/>
              </a:rPr>
              <a:t>DATA ANALYST INTERN</a:t>
            </a:r>
            <a:endParaRPr lang="en-US" sz="750" dirty="0"/>
          </a:p>
        </p:txBody>
      </p:sp>
      <p:sp>
        <p:nvSpPr>
          <p:cNvPr id="7" name="Text 4"/>
          <p:cNvSpPr/>
          <p:nvPr/>
        </p:nvSpPr>
        <p:spPr>
          <a:xfrm>
            <a:off x="661475" y="4914999"/>
            <a:ext cx="5279893" cy="197743"/>
          </a:xfrm>
          <a:prstGeom prst="rect">
            <a:avLst/>
          </a:prstGeom>
          <a:noFill/>
          <a:ln/>
        </p:spPr>
        <p:txBody>
          <a:bodyPr wrap="none" lIns="0" tIns="0" rIns="0" bIns="0" rtlCol="0" anchor="t"/>
          <a:lstStyle/>
          <a:p>
            <a:pPr algn="l" indent="0" marL="0">
              <a:lnSpc>
                <a:spcPct val="104000"/>
              </a:lnSpc>
              <a:buNone/>
            </a:pPr>
            <a:r>
              <a:rPr lang="en-US" sz="1200" dirty="0">
                <a:solidFill>
                  <a:srgbClr val="2C2926"/>
                </a:solidFill>
                <a:latin typeface="Bricolage Grotesque SemiBold" pitchFamily="34" charset="0"/>
                <a:ea typeface="Bricolage Grotesque SemiBold" pitchFamily="34" charset="-122"/>
                <a:cs typeface="Bricolage Grotesque SemiBold" pitchFamily="34" charset="-120"/>
              </a:rPr>
              <a:t>Phan Tiến Dũng</a:t>
            </a:r>
            <a:endParaRPr lang="en-US" sz="1200" dirty="0"/>
          </a:p>
        </p:txBody>
      </p:sp>
      <p:sp>
        <p:nvSpPr>
          <p:cNvPr id="8" name="Text 5"/>
          <p:cNvSpPr/>
          <p:nvPr/>
        </p:nvSpPr>
        <p:spPr>
          <a:xfrm>
            <a:off x="661475" y="5209679"/>
            <a:ext cx="5279893" cy="357584"/>
          </a:xfrm>
          <a:prstGeom prst="rect">
            <a:avLst/>
          </a:prstGeom>
          <a:noFill/>
          <a:ln/>
        </p:spPr>
        <p:txBody>
          <a:bodyPr wrap="square" lIns="0" tIns="0" rIns="0" bIns="0" rtlCol="0" anchor="t">
            <a:normAutofit/>
          </a:bodyPr>
          <a:lstStyle/>
          <a:p>
            <a:pPr algn="l" indent="0" marL="0">
              <a:lnSpc>
                <a:spcPct val="118000"/>
              </a:lnSpc>
              <a:buNone/>
            </a:pPr>
            <a:r>
              <a:rPr lang="en-US" sz="950" dirty="0">
                <a:solidFill>
                  <a:srgbClr val="2C2926"/>
                </a:solidFill>
                <a:latin typeface="Inter" pitchFamily="34" charset="0"/>
                <a:ea typeface="Inter" pitchFamily="34" charset="-122"/>
                <a:cs typeface="Inter" pitchFamily="34" charset="-120"/>
              </a:rPr>
              <a:t>Phân tích danh mục nội dung Netflix dựa trên tập dữ liệu 8.793 bản ghi — bóc tách cơ cấu, chiến lược địa phương hóa và đề xuất hành động cụ thể.</a:t>
            </a:r>
            <a:endParaRPr lang="en-US" sz="950" dirty="0"/>
          </a:p>
        </p:txBody>
      </p:sp>
      <p:sp>
        <p:nvSpPr>
          <p:cNvPr id="9" name="Shape 6"/>
          <p:cNvSpPr/>
          <p:nvPr/>
        </p:nvSpPr>
        <p:spPr>
          <a:xfrm>
            <a:off x="6256677" y="4684018"/>
            <a:ext cx="2591430" cy="739378"/>
          </a:xfrm>
          <a:prstGeom prst="roundRect">
            <a:avLst>
              <a:gd name="adj" fmla="val 7193"/>
            </a:avLst>
          </a:prstGeom>
          <a:solidFill>
            <a:srgbClr val="FFFFFF"/>
          </a:solidFill>
          <a:ln w="6350">
            <a:solidFill>
              <a:srgbClr val="F8ECD3"/>
            </a:solidFill>
            <a:prstDash val="solid"/>
          </a:ln>
        </p:spPr>
      </p:sp>
      <p:sp>
        <p:nvSpPr>
          <p:cNvPr id="10" name="Text 7"/>
          <p:cNvSpPr/>
          <p:nvPr/>
        </p:nvSpPr>
        <p:spPr>
          <a:xfrm>
            <a:off x="6389627" y="4816971"/>
            <a:ext cx="2325530" cy="197743"/>
          </a:xfrm>
          <a:prstGeom prst="rect">
            <a:avLst/>
          </a:prstGeom>
          <a:noFill/>
          <a:ln/>
        </p:spPr>
        <p:txBody>
          <a:bodyPr wrap="none" lIns="0" tIns="0" rIns="0" bIns="0" rtlCol="0" anchor="t"/>
          <a:lstStyle/>
          <a:p>
            <a:pPr algn="l" indent="0" marL="0">
              <a:lnSpc>
                <a:spcPct val="104000"/>
              </a:lnSpc>
              <a:buNone/>
            </a:pPr>
            <a:r>
              <a:rPr lang="en-US" sz="1200" dirty="0">
                <a:solidFill>
                  <a:srgbClr val="2C2926"/>
                </a:solidFill>
                <a:latin typeface="Bricolage Grotesque SemiBold" pitchFamily="34" charset="0"/>
                <a:ea typeface="Bricolage Grotesque SemiBold" pitchFamily="34" charset="-122"/>
                <a:cs typeface="Bricolage Grotesque SemiBold" pitchFamily="34" charset="-120"/>
              </a:rPr>
              <a:t>8.793</a:t>
            </a:r>
            <a:endParaRPr lang="en-US" sz="1200" dirty="0"/>
          </a:p>
        </p:txBody>
      </p:sp>
      <p:sp>
        <p:nvSpPr>
          <p:cNvPr id="11" name="Text 8"/>
          <p:cNvSpPr/>
          <p:nvPr/>
        </p:nvSpPr>
        <p:spPr>
          <a:xfrm>
            <a:off x="6389627" y="5111651"/>
            <a:ext cx="2325530" cy="178792"/>
          </a:xfrm>
          <a:prstGeom prst="rect">
            <a:avLst/>
          </a:prstGeom>
          <a:noFill/>
          <a:ln/>
        </p:spPr>
        <p:txBody>
          <a:bodyPr wrap="none" lIns="0" tIns="0" rIns="0" bIns="0" rtlCol="0" anchor="t"/>
          <a:lstStyle/>
          <a:p>
            <a:pPr algn="l" indent="0" marL="0">
              <a:lnSpc>
                <a:spcPct val="118000"/>
              </a:lnSpc>
              <a:buNone/>
            </a:pPr>
            <a:r>
              <a:rPr lang="en-US" sz="950" dirty="0">
                <a:solidFill>
                  <a:srgbClr val="2C2926"/>
                </a:solidFill>
                <a:latin typeface="Inter" pitchFamily="34" charset="0"/>
                <a:ea typeface="Inter" pitchFamily="34" charset="-122"/>
                <a:cs typeface="Inter" pitchFamily="34" charset="-120"/>
              </a:rPr>
              <a:t>Tổng số bản ghi</a:t>
            </a:r>
            <a:endParaRPr lang="en-US" sz="950" dirty="0"/>
          </a:p>
        </p:txBody>
      </p:sp>
      <p:sp>
        <p:nvSpPr>
          <p:cNvPr id="12" name="Shape 9"/>
          <p:cNvSpPr/>
          <p:nvPr/>
        </p:nvSpPr>
        <p:spPr>
          <a:xfrm>
            <a:off x="8945041" y="4684018"/>
            <a:ext cx="2591529" cy="739378"/>
          </a:xfrm>
          <a:prstGeom prst="roundRect">
            <a:avLst>
              <a:gd name="adj" fmla="val 7193"/>
            </a:avLst>
          </a:prstGeom>
          <a:solidFill>
            <a:srgbClr val="FFFFFF"/>
          </a:solidFill>
          <a:ln w="6350">
            <a:solidFill>
              <a:srgbClr val="F8ECD3"/>
            </a:solidFill>
            <a:prstDash val="solid"/>
          </a:ln>
        </p:spPr>
      </p:sp>
      <p:sp>
        <p:nvSpPr>
          <p:cNvPr id="13" name="Text 10"/>
          <p:cNvSpPr/>
          <p:nvPr/>
        </p:nvSpPr>
        <p:spPr>
          <a:xfrm>
            <a:off x="9077991" y="4816971"/>
            <a:ext cx="2325629" cy="197743"/>
          </a:xfrm>
          <a:prstGeom prst="rect">
            <a:avLst/>
          </a:prstGeom>
          <a:noFill/>
          <a:ln/>
        </p:spPr>
        <p:txBody>
          <a:bodyPr wrap="none" lIns="0" tIns="0" rIns="0" bIns="0" rtlCol="0" anchor="t"/>
          <a:lstStyle/>
          <a:p>
            <a:pPr algn="l" indent="0" marL="0">
              <a:lnSpc>
                <a:spcPct val="104000"/>
              </a:lnSpc>
              <a:buNone/>
            </a:pPr>
            <a:r>
              <a:rPr lang="en-US" sz="1200" dirty="0">
                <a:solidFill>
                  <a:srgbClr val="2C2926"/>
                </a:solidFill>
                <a:latin typeface="Bricolage Grotesque SemiBold" pitchFamily="34" charset="0"/>
                <a:ea typeface="Bricolage Grotesque SemiBold" pitchFamily="34" charset="-122"/>
                <a:cs typeface="Bricolage Grotesque SemiBold" pitchFamily="34" charset="-120"/>
              </a:rPr>
              <a:t>69,7%</a:t>
            </a:r>
            <a:endParaRPr lang="en-US" sz="1200" dirty="0"/>
          </a:p>
        </p:txBody>
      </p:sp>
      <p:sp>
        <p:nvSpPr>
          <p:cNvPr id="14" name="Text 11"/>
          <p:cNvSpPr/>
          <p:nvPr/>
        </p:nvSpPr>
        <p:spPr>
          <a:xfrm>
            <a:off x="9077991" y="5111651"/>
            <a:ext cx="2325629" cy="178792"/>
          </a:xfrm>
          <a:prstGeom prst="rect">
            <a:avLst/>
          </a:prstGeom>
          <a:noFill/>
          <a:ln/>
        </p:spPr>
        <p:txBody>
          <a:bodyPr wrap="none" lIns="0" tIns="0" rIns="0" bIns="0" rtlCol="0" anchor="t"/>
          <a:lstStyle/>
          <a:p>
            <a:pPr algn="l" indent="0" marL="0">
              <a:lnSpc>
                <a:spcPct val="118000"/>
              </a:lnSpc>
              <a:buNone/>
            </a:pPr>
            <a:r>
              <a:rPr lang="en-US" sz="950" dirty="0">
                <a:solidFill>
                  <a:srgbClr val="2C2926"/>
                </a:solidFill>
                <a:latin typeface="Inter" pitchFamily="34" charset="0"/>
                <a:ea typeface="Inter" pitchFamily="34" charset="-122"/>
                <a:cs typeface="Inter" pitchFamily="34" charset="-120"/>
              </a:rPr>
              <a:t>Phim lẻ (Movies)</a:t>
            </a:r>
            <a:endParaRPr lang="en-US" sz="950" dirty="0"/>
          </a:p>
        </p:txBody>
      </p:sp>
      <p:sp>
        <p:nvSpPr>
          <p:cNvPr id="15" name="Shape 12"/>
          <p:cNvSpPr/>
          <p:nvPr/>
        </p:nvSpPr>
        <p:spPr>
          <a:xfrm>
            <a:off x="6256677" y="5520333"/>
            <a:ext cx="5279893" cy="739378"/>
          </a:xfrm>
          <a:prstGeom prst="roundRect">
            <a:avLst>
              <a:gd name="adj" fmla="val 7193"/>
            </a:avLst>
          </a:prstGeom>
          <a:solidFill>
            <a:srgbClr val="FFFFFF"/>
          </a:solidFill>
          <a:ln w="6350">
            <a:solidFill>
              <a:srgbClr val="F8ECD3"/>
            </a:solidFill>
            <a:prstDash val="solid"/>
          </a:ln>
        </p:spPr>
      </p:sp>
      <p:sp>
        <p:nvSpPr>
          <p:cNvPr id="16" name="Text 13"/>
          <p:cNvSpPr/>
          <p:nvPr/>
        </p:nvSpPr>
        <p:spPr>
          <a:xfrm>
            <a:off x="6389627" y="5653286"/>
            <a:ext cx="5013993" cy="197743"/>
          </a:xfrm>
          <a:prstGeom prst="rect">
            <a:avLst/>
          </a:prstGeom>
          <a:noFill/>
          <a:ln/>
        </p:spPr>
        <p:txBody>
          <a:bodyPr wrap="none" lIns="0" tIns="0" rIns="0" bIns="0" rtlCol="0" anchor="t"/>
          <a:lstStyle/>
          <a:p>
            <a:pPr algn="l" indent="0" marL="0">
              <a:lnSpc>
                <a:spcPct val="104000"/>
              </a:lnSpc>
              <a:buNone/>
            </a:pPr>
            <a:r>
              <a:rPr lang="en-US" sz="1200" dirty="0">
                <a:solidFill>
                  <a:srgbClr val="2C2926"/>
                </a:solidFill>
                <a:latin typeface="Bricolage Grotesque SemiBold" pitchFamily="34" charset="0"/>
                <a:ea typeface="Bricolage Grotesque SemiBold" pitchFamily="34" charset="-122"/>
                <a:cs typeface="Bricolage Grotesque SemiBold" pitchFamily="34" charset="-120"/>
              </a:rPr>
              <a:t>30,3%</a:t>
            </a:r>
            <a:endParaRPr lang="en-US" sz="1200" dirty="0"/>
          </a:p>
        </p:txBody>
      </p:sp>
      <p:sp>
        <p:nvSpPr>
          <p:cNvPr id="17" name="Text 14"/>
          <p:cNvSpPr/>
          <p:nvPr/>
        </p:nvSpPr>
        <p:spPr>
          <a:xfrm>
            <a:off x="6389627" y="5947966"/>
            <a:ext cx="5013993" cy="178792"/>
          </a:xfrm>
          <a:prstGeom prst="rect">
            <a:avLst/>
          </a:prstGeom>
          <a:noFill/>
          <a:ln/>
        </p:spPr>
        <p:txBody>
          <a:bodyPr wrap="none" lIns="0" tIns="0" rIns="0" bIns="0" rtlCol="0" anchor="t"/>
          <a:lstStyle/>
          <a:p>
            <a:pPr algn="l" indent="0" marL="0">
              <a:lnSpc>
                <a:spcPct val="118000"/>
              </a:lnSpc>
              <a:buNone/>
            </a:pPr>
            <a:r>
              <a:rPr lang="en-US" sz="950" dirty="0">
                <a:solidFill>
                  <a:srgbClr val="2C2926"/>
                </a:solidFill>
                <a:latin typeface="Inter" pitchFamily="34" charset="0"/>
                <a:ea typeface="Inter" pitchFamily="34" charset="-122"/>
                <a:cs typeface="Inter" pitchFamily="34" charset="-120"/>
              </a:rPr>
              <a:t>Phim bộ (TV Shows)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500856"/>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2C2926"/>
                </a:solidFill>
                <a:latin typeface="Bricolage Grotesque SemiBold" pitchFamily="34" charset="0"/>
                <a:ea typeface="Bricolage Grotesque SemiBold" pitchFamily="34" charset="-122"/>
                <a:cs typeface="Bricolage Grotesque SemiBold" pitchFamily="34" charset="-120"/>
              </a:rPr>
              <a:t>Bối cảnh &amp; Mục tiêu Dự án</a:t>
            </a:r>
            <a:endParaRPr lang="en-US" sz="3250" dirty="0"/>
          </a:p>
        </p:txBody>
      </p:sp>
      <p:sp>
        <p:nvSpPr>
          <p:cNvPr id="3" name="Shape 1"/>
          <p:cNvSpPr/>
          <p:nvPr/>
        </p:nvSpPr>
        <p:spPr>
          <a:xfrm>
            <a:off x="542415" y="1265634"/>
            <a:ext cx="4343490" cy="5091509"/>
          </a:xfrm>
          <a:prstGeom prst="roundRect">
            <a:avLst>
              <a:gd name="adj" fmla="val 2742"/>
            </a:avLst>
          </a:prstGeom>
          <a:solidFill>
            <a:srgbClr val="E7BF6A">
              <a:alpha val="95000"/>
            </a:srgbClr>
          </a:solidFill>
          <a:ln/>
        </p:spPr>
      </p:sp>
      <p:sp>
        <p:nvSpPr>
          <p:cNvPr id="4" name="Text 2"/>
          <p:cNvSpPr/>
          <p:nvPr/>
        </p:nvSpPr>
        <p:spPr>
          <a:xfrm>
            <a:off x="707710" y="1430933"/>
            <a:ext cx="4012901" cy="258465"/>
          </a:xfrm>
          <a:prstGeom prst="rect">
            <a:avLst/>
          </a:prstGeom>
          <a:noFill/>
          <a:ln/>
        </p:spPr>
        <p:txBody>
          <a:bodyPr wrap="none" lIns="0" tIns="0" rIns="0" bIns="0" rtlCol="0" anchor="t"/>
          <a:lstStyle/>
          <a:p>
            <a:pPr algn="l" indent="0" marL="0">
              <a:lnSpc>
                <a:spcPct val="104000"/>
              </a:lnSpc>
              <a:buNone/>
            </a:pPr>
            <a:r>
              <a:rPr lang="en-US" sz="1600" dirty="0">
                <a:solidFill>
                  <a:srgbClr val="2C2926"/>
                </a:solidFill>
                <a:latin typeface="Bricolage Grotesque SemiBold" pitchFamily="34" charset="0"/>
                <a:ea typeface="Bricolage Grotesque SemiBold" pitchFamily="34" charset="-122"/>
                <a:cs typeface="Bricolage Grotesque SemiBold" pitchFamily="34" charset="-120"/>
              </a:rPr>
              <a:t>Thách thức</a:t>
            </a:r>
            <a:endParaRPr lang="en-US" sz="1600" dirty="0"/>
          </a:p>
        </p:txBody>
      </p:sp>
      <p:sp>
        <p:nvSpPr>
          <p:cNvPr id="5" name="Text 3"/>
          <p:cNvSpPr/>
          <p:nvPr/>
        </p:nvSpPr>
        <p:spPr>
          <a:xfrm>
            <a:off x="707710" y="1854696"/>
            <a:ext cx="4012901" cy="1323082"/>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Netflix sở hữu kho nội dung khổng lồ, cần tối ưu hóa ngân sách mua bản quyền và sản xuất nội dung mới. Việc phân bổ nguồn lực mà không có dữ liệu rõ ràng dẫn đến rủi ro đầu tư sai thị trường và sai định dạng nội dung.</a:t>
            </a:r>
            <a:endParaRPr lang="en-US" sz="1300" dirty="0"/>
          </a:p>
        </p:txBody>
      </p:sp>
      <p:sp>
        <p:nvSpPr>
          <p:cNvPr id="6" name="Text 4"/>
          <p:cNvSpPr/>
          <p:nvPr/>
        </p:nvSpPr>
        <p:spPr>
          <a:xfrm>
            <a:off x="707710" y="3343077"/>
            <a:ext cx="4012901" cy="258465"/>
          </a:xfrm>
          <a:prstGeom prst="rect">
            <a:avLst/>
          </a:prstGeom>
          <a:noFill/>
          <a:ln/>
        </p:spPr>
        <p:txBody>
          <a:bodyPr wrap="none" lIns="0" tIns="0" rIns="0" bIns="0" rtlCol="0" anchor="t"/>
          <a:lstStyle/>
          <a:p>
            <a:pPr algn="l" indent="0" marL="0">
              <a:lnSpc>
                <a:spcPct val="104000"/>
              </a:lnSpc>
              <a:buNone/>
            </a:pPr>
            <a:r>
              <a:rPr lang="en-US" sz="1600" dirty="0">
                <a:solidFill>
                  <a:srgbClr val="2C2926"/>
                </a:solidFill>
                <a:latin typeface="Bricolage Grotesque SemiBold" pitchFamily="34" charset="0"/>
                <a:ea typeface="Bricolage Grotesque SemiBold" pitchFamily="34" charset="-122"/>
                <a:cs typeface="Bricolage Grotesque SemiBold" pitchFamily="34" charset="-120"/>
              </a:rPr>
              <a:t>Đầu ra</a:t>
            </a:r>
            <a:endParaRPr lang="en-US" sz="1600" dirty="0"/>
          </a:p>
        </p:txBody>
      </p:sp>
      <p:sp>
        <p:nvSpPr>
          <p:cNvPr id="7" name="Text 5"/>
          <p:cNvSpPr/>
          <p:nvPr/>
        </p:nvSpPr>
        <p:spPr>
          <a:xfrm>
            <a:off x="707710" y="3766840"/>
            <a:ext cx="4012901"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Đề xuất chiến lược nội dung cụ thể và Dashboard quản trị tự động hóa báo cáo cho cấp quản lý.</a:t>
            </a:r>
            <a:endParaRPr lang="en-US" sz="1300" dirty="0"/>
          </a:p>
        </p:txBody>
      </p:sp>
      <p:sp>
        <p:nvSpPr>
          <p:cNvPr id="8" name="Text 6"/>
          <p:cNvSpPr/>
          <p:nvPr/>
        </p:nvSpPr>
        <p:spPr>
          <a:xfrm>
            <a:off x="5176609" y="1430933"/>
            <a:ext cx="6359862" cy="258465"/>
          </a:xfrm>
          <a:prstGeom prst="rect">
            <a:avLst/>
          </a:prstGeom>
          <a:noFill/>
          <a:ln/>
        </p:spPr>
        <p:txBody>
          <a:bodyPr wrap="none" lIns="0" tIns="0" rIns="0" bIns="0" rtlCol="0" anchor="t"/>
          <a:lstStyle/>
          <a:p>
            <a:pPr algn="l" indent="0" marL="0">
              <a:lnSpc>
                <a:spcPct val="104000"/>
              </a:lnSpc>
              <a:buNone/>
            </a:pPr>
            <a:r>
              <a:rPr lang="en-US" sz="1600" dirty="0">
                <a:solidFill>
                  <a:srgbClr val="2C2926"/>
                </a:solidFill>
                <a:latin typeface="Bricolage Grotesque SemiBold" pitchFamily="34" charset="0"/>
                <a:ea typeface="Bricolage Grotesque SemiBold" pitchFamily="34" charset="-122"/>
                <a:cs typeface="Bricolage Grotesque SemiBold" pitchFamily="34" charset="-120"/>
              </a:rPr>
              <a:t>Mục tiêu Phân tích</a:t>
            </a:r>
            <a:endParaRPr lang="en-US" sz="1600" dirty="0"/>
          </a:p>
        </p:txBody>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176609" y="1875433"/>
            <a:ext cx="6359862" cy="1321693"/>
          </a:xfrm>
          <a:prstGeom prst="rect">
            <a:avLst/>
          </a:prstGeom>
        </p:spPr>
      </p:pic>
      <p:sp>
        <p:nvSpPr>
          <p:cNvPr id="10" name="Text 7"/>
          <p:cNvSpPr/>
          <p:nvPr/>
        </p:nvSpPr>
        <p:spPr>
          <a:xfrm>
            <a:off x="5437151" y="2059781"/>
            <a:ext cx="5914976" cy="258465"/>
          </a:xfrm>
          <a:prstGeom prst="rect">
            <a:avLst/>
          </a:prstGeom>
          <a:noFill/>
          <a:ln/>
        </p:spPr>
        <p:txBody>
          <a:bodyPr wrap="none" lIns="0" tIns="0" rIns="0" bIns="0" rtlCol="0" anchor="t"/>
          <a:lstStyle/>
          <a:p>
            <a:pPr algn="l" indent="0" marL="0">
              <a:lnSpc>
                <a:spcPct val="104000"/>
              </a:lnSpc>
              <a:buNone/>
            </a:pPr>
            <a:r>
              <a:rPr lang="en-US" sz="1600" dirty="0">
                <a:solidFill>
                  <a:srgbClr val="2C2926"/>
                </a:solidFill>
                <a:latin typeface="Bricolage Grotesque SemiBold" pitchFamily="34" charset="0"/>
                <a:ea typeface="Bricolage Grotesque SemiBold" pitchFamily="34" charset="-122"/>
                <a:cs typeface="Bricolage Grotesque SemiBold" pitchFamily="34" charset="-120"/>
              </a:rPr>
              <a:t>Cơ cấu Danh mục</a:t>
            </a:r>
            <a:endParaRPr lang="en-US" sz="1600" dirty="0"/>
          </a:p>
        </p:txBody>
      </p:sp>
      <p:sp>
        <p:nvSpPr>
          <p:cNvPr id="11" name="Text 8"/>
          <p:cNvSpPr/>
          <p:nvPr/>
        </p:nvSpPr>
        <p:spPr>
          <a:xfrm>
            <a:off x="5437151" y="2483545"/>
            <a:ext cx="5914976"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Bóc tách tỷ lệ Movie vs. TV Show toàn bộ thư viện, phân tích drop-off theo mùa phim bộ.</a:t>
            </a:r>
            <a:endParaRPr lang="en-US" sz="1300" dirty="0"/>
          </a:p>
        </p:txBody>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76609" y="3362424"/>
            <a:ext cx="6359862" cy="1321693"/>
          </a:xfrm>
          <a:prstGeom prst="rect">
            <a:avLst/>
          </a:prstGeom>
        </p:spPr>
      </p:pic>
      <p:sp>
        <p:nvSpPr>
          <p:cNvPr id="13" name="Text 9"/>
          <p:cNvSpPr/>
          <p:nvPr/>
        </p:nvSpPr>
        <p:spPr>
          <a:xfrm>
            <a:off x="5437151" y="3546773"/>
            <a:ext cx="5914976" cy="258465"/>
          </a:xfrm>
          <a:prstGeom prst="rect">
            <a:avLst/>
          </a:prstGeom>
          <a:noFill/>
          <a:ln/>
        </p:spPr>
        <p:txBody>
          <a:bodyPr wrap="none" lIns="0" tIns="0" rIns="0" bIns="0" rtlCol="0" anchor="t"/>
          <a:lstStyle/>
          <a:p>
            <a:pPr algn="l" indent="0" marL="0">
              <a:lnSpc>
                <a:spcPct val="104000"/>
              </a:lnSpc>
              <a:buNone/>
            </a:pPr>
            <a:r>
              <a:rPr lang="en-US" sz="1600" dirty="0">
                <a:solidFill>
                  <a:srgbClr val="2C2926"/>
                </a:solidFill>
                <a:latin typeface="Bricolage Grotesque SemiBold" pitchFamily="34" charset="0"/>
                <a:ea typeface="Bricolage Grotesque SemiBold" pitchFamily="34" charset="-122"/>
                <a:cs typeface="Bricolage Grotesque SemiBold" pitchFamily="34" charset="-120"/>
              </a:rPr>
              <a:t>Chiến lược Địa phương hóa</a:t>
            </a:r>
            <a:endParaRPr lang="en-US" sz="1600" dirty="0"/>
          </a:p>
        </p:txBody>
      </p:sp>
      <p:sp>
        <p:nvSpPr>
          <p:cNvPr id="14" name="Text 10"/>
          <p:cNvSpPr/>
          <p:nvPr/>
        </p:nvSpPr>
        <p:spPr>
          <a:xfrm>
            <a:off x="5437151" y="3970536"/>
            <a:ext cx="5914976"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Hiểu rõ đặc thù nội dung tại các thị trường trọng điểm: Ấn Độ, Hàn Quốc, Nhật Bản.</a:t>
            </a:r>
            <a:endParaRPr lang="en-US" sz="1300" dirty="0"/>
          </a:p>
        </p:txBody>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76609" y="4849416"/>
            <a:ext cx="6359862" cy="1321693"/>
          </a:xfrm>
          <a:prstGeom prst="rect">
            <a:avLst/>
          </a:prstGeom>
        </p:spPr>
      </p:pic>
      <p:sp>
        <p:nvSpPr>
          <p:cNvPr id="16" name="Text 11"/>
          <p:cNvSpPr/>
          <p:nvPr/>
        </p:nvSpPr>
        <p:spPr>
          <a:xfrm>
            <a:off x="5437151" y="5033764"/>
            <a:ext cx="5914976" cy="258465"/>
          </a:xfrm>
          <a:prstGeom prst="rect">
            <a:avLst/>
          </a:prstGeom>
          <a:noFill/>
          <a:ln/>
        </p:spPr>
        <p:txBody>
          <a:bodyPr wrap="none" lIns="0" tIns="0" rIns="0" bIns="0" rtlCol="0" anchor="t"/>
          <a:lstStyle/>
          <a:p>
            <a:pPr algn="l" indent="0" marL="0">
              <a:lnSpc>
                <a:spcPct val="104000"/>
              </a:lnSpc>
              <a:buNone/>
            </a:pPr>
            <a:r>
              <a:rPr lang="en-US" sz="1600" dirty="0">
                <a:solidFill>
                  <a:srgbClr val="2C2926"/>
                </a:solidFill>
                <a:latin typeface="Bricolage Grotesque SemiBold" pitchFamily="34" charset="0"/>
                <a:ea typeface="Bricolage Grotesque SemiBold" pitchFamily="34" charset="-122"/>
                <a:cs typeface="Bricolage Grotesque SemiBold" pitchFamily="34" charset="-120"/>
              </a:rPr>
              <a:t>Tính Mùa vụ &amp; Độ trễ</a:t>
            </a:r>
            <a:endParaRPr lang="en-US" sz="1600" dirty="0"/>
          </a:p>
        </p:txBody>
      </p:sp>
      <p:sp>
        <p:nvSpPr>
          <p:cNvPr id="17" name="Text 12"/>
          <p:cNvSpPr/>
          <p:nvPr/>
        </p:nvSpPr>
        <p:spPr>
          <a:xfrm>
            <a:off x="5437151" y="5457527"/>
            <a:ext cx="5914976"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Phân tích lịch phát hành theo tháng và độ tươi mới của nội dung khi lên nền tảng.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491629"/>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2C2926"/>
                </a:solidFill>
                <a:latin typeface="Bricolage Grotesque SemiBold" pitchFamily="34" charset="0"/>
                <a:ea typeface="Bricolage Grotesque SemiBold" pitchFamily="34" charset="-122"/>
                <a:cs typeface="Bricolage Grotesque SemiBold" pitchFamily="34" charset="-120"/>
              </a:rPr>
              <a:t>Tổng quan Dữ liệu &amp; Quá trình Làm sạch</a:t>
            </a:r>
            <a:endParaRPr lang="en-US" sz="3250" dirty="0"/>
          </a:p>
        </p:txBody>
      </p:sp>
      <p:sp>
        <p:nvSpPr>
          <p:cNvPr id="3" name="Text 1"/>
          <p:cNvSpPr/>
          <p:nvPr/>
        </p:nvSpPr>
        <p:spPr>
          <a:xfrm>
            <a:off x="661475" y="1525091"/>
            <a:ext cx="3541822" cy="545802"/>
          </a:xfrm>
          <a:prstGeom prst="rect">
            <a:avLst/>
          </a:prstGeom>
          <a:noFill/>
          <a:ln/>
        </p:spPr>
        <p:txBody>
          <a:bodyPr wrap="none" lIns="0" tIns="0" rIns="0" bIns="0" rtlCol="0" anchor="t"/>
          <a:lstStyle/>
          <a:p>
            <a:pPr algn="ctr" indent="0" marL="0">
              <a:lnSpc>
                <a:spcPct val="83000"/>
              </a:lnSpc>
              <a:buNone/>
            </a:pPr>
            <a:r>
              <a:rPr lang="en-US" sz="4250" dirty="0">
                <a:solidFill>
                  <a:srgbClr val="2C2926"/>
                </a:solidFill>
                <a:latin typeface="Bricolage Grotesque SemiBold" pitchFamily="34" charset="0"/>
                <a:ea typeface="Bricolage Grotesque SemiBold" pitchFamily="34" charset="-122"/>
                <a:cs typeface="Bricolage Grotesque SemiBold" pitchFamily="34" charset="-120"/>
              </a:rPr>
              <a:t>8.793</a:t>
            </a:r>
            <a:endParaRPr lang="en-US" sz="4250" dirty="0"/>
          </a:p>
        </p:txBody>
      </p:sp>
      <p:sp>
        <p:nvSpPr>
          <p:cNvPr id="4" name="Text 2"/>
          <p:cNvSpPr/>
          <p:nvPr/>
        </p:nvSpPr>
        <p:spPr>
          <a:xfrm>
            <a:off x="661475" y="2277566"/>
            <a:ext cx="3541822" cy="258465"/>
          </a:xfrm>
          <a:prstGeom prst="rect">
            <a:avLst/>
          </a:prstGeom>
          <a:noFill/>
          <a:ln/>
        </p:spPr>
        <p:txBody>
          <a:bodyPr wrap="none" lIns="0" tIns="0" rIns="0" bIns="0" rtlCol="0" anchor="t"/>
          <a:lstStyle/>
          <a:p>
            <a:pPr algn="ctr" indent="0" marL="0">
              <a:lnSpc>
                <a:spcPct val="104000"/>
              </a:lnSpc>
              <a:buNone/>
            </a:pPr>
            <a:r>
              <a:rPr lang="en-US" sz="1600" dirty="0">
                <a:solidFill>
                  <a:srgbClr val="2C2926"/>
                </a:solidFill>
                <a:latin typeface="Bricolage Grotesque SemiBold" pitchFamily="34" charset="0"/>
                <a:ea typeface="Bricolage Grotesque SemiBold" pitchFamily="34" charset="-122"/>
                <a:cs typeface="Bricolage Grotesque SemiBold" pitchFamily="34" charset="-120"/>
              </a:rPr>
              <a:t>Bản ghi gốc</a:t>
            </a:r>
            <a:endParaRPr lang="en-US" sz="1600" dirty="0"/>
          </a:p>
        </p:txBody>
      </p:sp>
      <p:sp>
        <p:nvSpPr>
          <p:cNvPr id="5" name="Text 3"/>
          <p:cNvSpPr/>
          <p:nvPr/>
        </p:nvSpPr>
        <p:spPr>
          <a:xfrm>
            <a:off x="661475" y="2701330"/>
            <a:ext cx="3541822" cy="529233"/>
          </a:xfrm>
          <a:prstGeom prst="rect">
            <a:avLst/>
          </a:prstGeom>
          <a:noFill/>
          <a:ln/>
        </p:spPr>
        <p:txBody>
          <a:bodyPr wrap="square" lIns="0" tIns="0" rIns="0" bIns="0" rtlCol="0" anchor="t">
            <a:normAutofit/>
          </a:bodyPr>
          <a:lstStyle/>
          <a:p>
            <a:pPr algn="ctr" indent="0" marL="0">
              <a:lnSpc>
                <a:spcPct val="133000"/>
              </a:lnSpc>
              <a:buNone/>
            </a:pPr>
            <a:r>
              <a:rPr lang="en-US" sz="1300" dirty="0">
                <a:solidFill>
                  <a:srgbClr val="2C2926"/>
                </a:solidFill>
                <a:latin typeface="Inter" pitchFamily="34" charset="0"/>
                <a:ea typeface="Inter" pitchFamily="34" charset="-122"/>
                <a:cs typeface="Inter" pitchFamily="34" charset="-120"/>
              </a:rPr>
              <a:t>Tổng số dòng dữ liệu trong tập Netflix dataset</a:t>
            </a:r>
            <a:endParaRPr lang="en-US" sz="1300" dirty="0"/>
          </a:p>
        </p:txBody>
      </p:sp>
      <p:sp>
        <p:nvSpPr>
          <p:cNvPr id="6" name="Text 4"/>
          <p:cNvSpPr/>
          <p:nvPr/>
        </p:nvSpPr>
        <p:spPr>
          <a:xfrm>
            <a:off x="661475" y="3643908"/>
            <a:ext cx="3541822" cy="545802"/>
          </a:xfrm>
          <a:prstGeom prst="rect">
            <a:avLst/>
          </a:prstGeom>
          <a:noFill/>
          <a:ln/>
        </p:spPr>
        <p:txBody>
          <a:bodyPr wrap="none" lIns="0" tIns="0" rIns="0" bIns="0" rtlCol="0" anchor="t"/>
          <a:lstStyle/>
          <a:p>
            <a:pPr algn="ctr" indent="0" marL="0">
              <a:lnSpc>
                <a:spcPct val="83000"/>
              </a:lnSpc>
              <a:buNone/>
            </a:pPr>
            <a:r>
              <a:rPr lang="en-US" sz="4250" dirty="0">
                <a:solidFill>
                  <a:srgbClr val="2C2926"/>
                </a:solidFill>
                <a:latin typeface="Bricolage Grotesque SemiBold" pitchFamily="34" charset="0"/>
                <a:ea typeface="Bricolage Grotesque SemiBold" pitchFamily="34" charset="-122"/>
                <a:cs typeface="Bricolage Grotesque SemiBold" pitchFamily="34" charset="-120"/>
              </a:rPr>
              <a:t>3</a:t>
            </a:r>
            <a:endParaRPr lang="en-US" sz="4250" dirty="0"/>
          </a:p>
        </p:txBody>
      </p:sp>
      <p:sp>
        <p:nvSpPr>
          <p:cNvPr id="7" name="Text 5"/>
          <p:cNvSpPr/>
          <p:nvPr/>
        </p:nvSpPr>
        <p:spPr>
          <a:xfrm>
            <a:off x="661475" y="4396383"/>
            <a:ext cx="3541822" cy="258465"/>
          </a:xfrm>
          <a:prstGeom prst="rect">
            <a:avLst/>
          </a:prstGeom>
          <a:noFill/>
          <a:ln/>
        </p:spPr>
        <p:txBody>
          <a:bodyPr wrap="none" lIns="0" tIns="0" rIns="0" bIns="0" rtlCol="0" anchor="t"/>
          <a:lstStyle/>
          <a:p>
            <a:pPr algn="ctr" indent="0" marL="0">
              <a:lnSpc>
                <a:spcPct val="104000"/>
              </a:lnSpc>
              <a:buNone/>
            </a:pPr>
            <a:r>
              <a:rPr lang="en-US" sz="1600" dirty="0">
                <a:solidFill>
                  <a:srgbClr val="2C2926"/>
                </a:solidFill>
                <a:latin typeface="Bricolage Grotesque SemiBold" pitchFamily="34" charset="0"/>
                <a:ea typeface="Bricolage Grotesque SemiBold" pitchFamily="34" charset="-122"/>
                <a:cs typeface="Bricolage Grotesque SemiBold" pitchFamily="34" charset="-120"/>
              </a:rPr>
              <a:t>Bước xử lý chính</a:t>
            </a:r>
            <a:endParaRPr lang="en-US" sz="1600" dirty="0"/>
          </a:p>
        </p:txBody>
      </p:sp>
      <p:sp>
        <p:nvSpPr>
          <p:cNvPr id="8" name="Text 6"/>
          <p:cNvSpPr/>
          <p:nvPr/>
        </p:nvSpPr>
        <p:spPr>
          <a:xfrm>
            <a:off x="661475" y="4820146"/>
            <a:ext cx="3541822" cy="529233"/>
          </a:xfrm>
          <a:prstGeom prst="rect">
            <a:avLst/>
          </a:prstGeom>
          <a:noFill/>
          <a:ln/>
        </p:spPr>
        <p:txBody>
          <a:bodyPr wrap="square" lIns="0" tIns="0" rIns="0" bIns="0" rtlCol="0" anchor="t">
            <a:normAutofit/>
          </a:bodyPr>
          <a:lstStyle/>
          <a:p>
            <a:pPr algn="ctr" indent="0" marL="0">
              <a:lnSpc>
                <a:spcPct val="133000"/>
              </a:lnSpc>
              <a:buNone/>
            </a:pPr>
            <a:r>
              <a:rPr lang="en-US" sz="1300" dirty="0">
                <a:solidFill>
                  <a:srgbClr val="2C2926"/>
                </a:solidFill>
                <a:latin typeface="Inter" pitchFamily="34" charset="0"/>
                <a:ea typeface="Inter" pitchFamily="34" charset="-122"/>
                <a:cs typeface="Inter" pitchFamily="34" charset="-120"/>
              </a:rPr>
              <a:t>Làm sạch cấu trúc, tách biến, chuẩn hóa định dạng</a:t>
            </a:r>
            <a:endParaRPr lang="en-US" sz="1300" dirty="0"/>
          </a:p>
        </p:txBody>
      </p:sp>
      <p:sp>
        <p:nvSpPr>
          <p:cNvPr id="9" name="Shape 7"/>
          <p:cNvSpPr/>
          <p:nvPr/>
        </p:nvSpPr>
        <p:spPr>
          <a:xfrm>
            <a:off x="661475" y="5535414"/>
            <a:ext cx="3541822" cy="644823"/>
          </a:xfrm>
          <a:prstGeom prst="roundRect">
            <a:avLst>
              <a:gd name="adj" fmla="val 10773"/>
            </a:avLst>
          </a:prstGeom>
          <a:solidFill>
            <a:srgbClr val="F8ECD3"/>
          </a:solidFill>
          <a:ln/>
        </p:spPr>
      </p:sp>
      <p:pic>
        <p:nvPicPr>
          <p:cNvPr id="10" name="Image 0" descr="preencoded.png">    </p:cNvPr>
          <p:cNvPicPr>
            <a:picLocks noChangeAspect="1"/>
          </p:cNvPicPr>
          <p:nvPr/>
        </p:nvPicPr>
        <p:blipFill>
          <a:blip r:embed="rId1"/>
          <a:stretch>
            <a:fillRect/>
          </a:stretch>
        </p:blipFill>
        <p:spPr>
          <a:xfrm>
            <a:off x="826769" y="5787827"/>
            <a:ext cx="206667" cy="165298"/>
          </a:xfrm>
          <a:prstGeom prst="rect">
            <a:avLst/>
          </a:prstGeom>
        </p:spPr>
      </p:pic>
      <p:sp>
        <p:nvSpPr>
          <p:cNvPr id="11" name="Text 8"/>
          <p:cNvSpPr/>
          <p:nvPr/>
        </p:nvSpPr>
        <p:spPr>
          <a:xfrm>
            <a:off x="1198731" y="5725517"/>
            <a:ext cx="3448857" cy="264616"/>
          </a:xfrm>
          <a:prstGeom prst="rect">
            <a:avLst/>
          </a:prstGeom>
          <a:noFill/>
          <a:ln/>
        </p:spPr>
        <p:txBody>
          <a:bodyPr wrap="none" lIns="0" tIns="0" rIns="0" bIns="0" rtlCol="0" anchor="t"/>
          <a:lstStyle/>
          <a:p>
            <a:pPr algn="l" indent="0" marL="0">
              <a:lnSpc>
                <a:spcPct val="133000"/>
              </a:lnSpc>
              <a:buNone/>
            </a:pPr>
            <a:r>
              <a:rPr lang="en-US" sz="1300" dirty="0">
                <a:solidFill>
                  <a:srgbClr val="000000"/>
                </a:solidFill>
                <a:latin typeface="Inter" pitchFamily="34" charset="0"/>
                <a:ea typeface="Inter" pitchFamily="34" charset="-122"/>
                <a:cs typeface="Inter" pitchFamily="34" charset="-120"/>
              </a:rPr>
              <a:t>Công cụ: </a:t>
            </a:r>
            <a:pPr algn="l" indent="0" marL="0">
              <a:lnSpc>
                <a:spcPct val="133000"/>
              </a:lnSpc>
              <a:buNone/>
            </a:pPr>
            <a:r>
              <a:rPr lang="en-US" sz="1300" b="1" dirty="0">
                <a:solidFill>
                  <a:srgbClr val="000000"/>
                </a:solidFill>
                <a:latin typeface="Inter Bold" pitchFamily="34" charset="0"/>
                <a:ea typeface="Inter Bold" pitchFamily="34" charset="-122"/>
                <a:cs typeface="Inter Bold" pitchFamily="34" charset="-120"/>
              </a:rPr>
              <a:t>Python</a:t>
            </a:r>
            <a:pPr algn="l" indent="0" marL="0">
              <a:lnSpc>
                <a:spcPct val="133000"/>
              </a:lnSpc>
              <a:buNone/>
            </a:pPr>
            <a:r>
              <a:rPr lang="en-US" sz="1300" dirty="0">
                <a:solidFill>
                  <a:srgbClr val="000000"/>
                </a:solidFill>
                <a:latin typeface="Inter" pitchFamily="34" charset="0"/>
                <a:ea typeface="Inter" pitchFamily="34" charset="-122"/>
                <a:cs typeface="Inter" pitchFamily="34" charset="-120"/>
              </a:rPr>
              <a:t> — Pandas, NumPy</a:t>
            </a:r>
            <a:endParaRPr lang="en-US" sz="1300" dirty="0"/>
          </a:p>
        </p:txBody>
      </p:sp>
      <p:sp>
        <p:nvSpPr>
          <p:cNvPr id="12" name="Text 9"/>
          <p:cNvSpPr/>
          <p:nvPr/>
        </p:nvSpPr>
        <p:spPr>
          <a:xfrm>
            <a:off x="4613060" y="1421705"/>
            <a:ext cx="6923410" cy="258465"/>
          </a:xfrm>
          <a:prstGeom prst="rect">
            <a:avLst/>
          </a:prstGeom>
          <a:noFill/>
          <a:ln/>
        </p:spPr>
        <p:txBody>
          <a:bodyPr wrap="none" lIns="0" tIns="0" rIns="0" bIns="0" rtlCol="0" anchor="t"/>
          <a:lstStyle/>
          <a:p>
            <a:pPr algn="l" indent="0" marL="0">
              <a:lnSpc>
                <a:spcPct val="104000"/>
              </a:lnSpc>
              <a:buNone/>
            </a:pPr>
            <a:r>
              <a:rPr lang="en-US" sz="1600" dirty="0">
                <a:solidFill>
                  <a:srgbClr val="2C2926"/>
                </a:solidFill>
                <a:latin typeface="Bricolage Grotesque SemiBold" pitchFamily="34" charset="0"/>
                <a:ea typeface="Bricolage Grotesque SemiBold" pitchFamily="34" charset="-122"/>
                <a:cs typeface="Bricolage Grotesque SemiBold" pitchFamily="34" charset="-120"/>
              </a:rPr>
              <a:t>Các thách thức xử lý (Data Cleaning)</a:t>
            </a:r>
            <a:endParaRPr lang="en-US" sz="1600" dirty="0"/>
          </a:p>
        </p:txBody>
      </p:sp>
      <p:sp>
        <p:nvSpPr>
          <p:cNvPr id="13" name="Text 10"/>
          <p:cNvSpPr/>
          <p:nvPr/>
        </p:nvSpPr>
        <p:spPr>
          <a:xfrm>
            <a:off x="4675071" y="1897211"/>
            <a:ext cx="248041" cy="310059"/>
          </a:xfrm>
          <a:prstGeom prst="rect">
            <a:avLst/>
          </a:prstGeom>
          <a:noFill/>
          <a:ln/>
        </p:spPr>
        <p:txBody>
          <a:bodyPr wrap="none" lIns="0" tIns="0" rIns="0" bIns="0" rtlCol="0" anchor="ctr"/>
          <a:lstStyle/>
          <a:p>
            <a:pPr algn="ctr" indent="0" marL="0">
              <a:lnSpc>
                <a:spcPct val="100000"/>
              </a:lnSpc>
              <a:buNone/>
            </a:pPr>
            <a:r>
              <a:rPr lang="en-US" sz="1950" dirty="0">
                <a:solidFill>
                  <a:srgbClr val="2C2926"/>
                </a:solidFill>
                <a:latin typeface="Bricolage Grotesque SemiBold" pitchFamily="34" charset="0"/>
                <a:ea typeface="Bricolage Grotesque SemiBold" pitchFamily="34" charset="-122"/>
                <a:cs typeface="Bricolage Grotesque SemiBold" pitchFamily="34" charset="-120"/>
              </a:rPr>
              <a:t>1</a:t>
            </a:r>
            <a:endParaRPr lang="en-US" sz="1950" dirty="0"/>
          </a:p>
        </p:txBody>
      </p:sp>
      <p:sp>
        <p:nvSpPr>
          <p:cNvPr id="14" name="Text 11"/>
          <p:cNvSpPr/>
          <p:nvPr/>
        </p:nvSpPr>
        <p:spPr>
          <a:xfrm>
            <a:off x="5150416" y="1923058"/>
            <a:ext cx="2821016" cy="258465"/>
          </a:xfrm>
          <a:prstGeom prst="rect">
            <a:avLst/>
          </a:prstGeom>
          <a:noFill/>
          <a:ln/>
        </p:spPr>
        <p:txBody>
          <a:bodyPr wrap="none" lIns="0" tIns="0" rIns="0" bIns="0" rtlCol="0" anchor="t"/>
          <a:lstStyle/>
          <a:p>
            <a:pPr algn="l" indent="0" marL="0">
              <a:lnSpc>
                <a:spcPct val="104000"/>
              </a:lnSpc>
              <a:buNone/>
            </a:pPr>
            <a:r>
              <a:rPr lang="en-US" sz="1600" dirty="0">
                <a:solidFill>
                  <a:srgbClr val="2C2926"/>
                </a:solidFill>
                <a:latin typeface="Bricolage Grotesque SemiBold" pitchFamily="34" charset="0"/>
                <a:ea typeface="Bricolage Grotesque SemiBold" pitchFamily="34" charset="-122"/>
                <a:cs typeface="Bricolage Grotesque SemiBold" pitchFamily="34" charset="-120"/>
              </a:rPr>
              <a:t>Lỗi cấu trúc dữ liệu</a:t>
            </a:r>
            <a:endParaRPr lang="en-US" sz="1600" dirty="0"/>
          </a:p>
        </p:txBody>
      </p:sp>
      <p:sp>
        <p:nvSpPr>
          <p:cNvPr id="15" name="Text 12"/>
          <p:cNvSpPr/>
          <p:nvPr/>
        </p:nvSpPr>
        <p:spPr>
          <a:xfrm>
            <a:off x="5150416" y="2346821"/>
            <a:ext cx="2821016"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Sửa lỗi lệch cột và ký tự xuống dòng ẩn (</a:t>
            </a:r>
            <a:pPr algn="l" indent="0" marL="0">
              <a:lnSpc>
                <a:spcPct val="133000"/>
              </a:lnSpc>
              <a:buNone/>
            </a:pPr>
            <a:r>
              <a:rPr lang="en-US" sz="1300" dirty="0">
                <a:solidFill>
                  <a:srgbClr val="2C2926"/>
                </a:solidFill>
                <a:highlight>
                  <a:srgbClr val="F2F2F2"/>
                </a:highlight>
                <a:latin typeface="Consolas" pitchFamily="34" charset="0"/>
                <a:ea typeface="Consolas" pitchFamily="34" charset="-122"/>
                <a:cs typeface="Consolas" pitchFamily="34" charset="-120"/>
              </a:rPr>
              <a:t>\n</a:t>
            </a:r>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 </a:t>
            </a:r>
            <a:pPr algn="l" indent="0" marL="0">
              <a:lnSpc>
                <a:spcPct val="133000"/>
              </a:lnSpc>
              <a:buNone/>
            </a:pPr>
            <a:r>
              <a:rPr lang="en-US" sz="1300" dirty="0">
                <a:solidFill>
                  <a:srgbClr val="2C2926"/>
                </a:solidFill>
                <a:highlight>
                  <a:srgbClr val="F2F2F2"/>
                </a:highlight>
                <a:latin typeface="Consolas" pitchFamily="34" charset="0"/>
                <a:ea typeface="Consolas" pitchFamily="34" charset="-122"/>
                <a:cs typeface="Consolas" pitchFamily="34" charset="-120"/>
              </a:rPr>
              <a:t>\r</a:t>
            </a:r>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 gây lỗi parse khi import — ảnh hưởng đến tính toàn vẹn của toàn bộ pipeline.</a:t>
            </a:r>
            <a:endParaRPr lang="en-US" sz="1300" dirty="0"/>
          </a:p>
        </p:txBody>
      </p:sp>
      <p:sp>
        <p:nvSpPr>
          <p:cNvPr id="16" name="Text 13"/>
          <p:cNvSpPr/>
          <p:nvPr/>
        </p:nvSpPr>
        <p:spPr>
          <a:xfrm>
            <a:off x="8240109" y="1897211"/>
            <a:ext cx="248041" cy="310059"/>
          </a:xfrm>
          <a:prstGeom prst="rect">
            <a:avLst/>
          </a:prstGeom>
          <a:noFill/>
          <a:ln/>
        </p:spPr>
        <p:txBody>
          <a:bodyPr wrap="none" lIns="0" tIns="0" rIns="0" bIns="0" rtlCol="0" anchor="ctr"/>
          <a:lstStyle/>
          <a:p>
            <a:pPr algn="ctr" indent="0" marL="0">
              <a:lnSpc>
                <a:spcPct val="100000"/>
              </a:lnSpc>
              <a:buNone/>
            </a:pPr>
            <a:r>
              <a:rPr lang="en-US" sz="1950" dirty="0">
                <a:solidFill>
                  <a:srgbClr val="2C2926"/>
                </a:solidFill>
                <a:latin typeface="Bricolage Grotesque SemiBold" pitchFamily="34" charset="0"/>
                <a:ea typeface="Bricolage Grotesque SemiBold" pitchFamily="34" charset="-122"/>
                <a:cs typeface="Bricolage Grotesque SemiBold" pitchFamily="34" charset="-120"/>
              </a:rPr>
              <a:t>2</a:t>
            </a:r>
            <a:endParaRPr lang="en-US" sz="1950" dirty="0"/>
          </a:p>
        </p:txBody>
      </p:sp>
      <p:sp>
        <p:nvSpPr>
          <p:cNvPr id="17" name="Text 14"/>
          <p:cNvSpPr/>
          <p:nvPr/>
        </p:nvSpPr>
        <p:spPr>
          <a:xfrm>
            <a:off x="8715455" y="1923058"/>
            <a:ext cx="2821016" cy="271165"/>
          </a:xfrm>
          <a:prstGeom prst="rect">
            <a:avLst/>
          </a:prstGeom>
          <a:noFill/>
          <a:ln/>
        </p:spPr>
        <p:txBody>
          <a:bodyPr wrap="none" lIns="0" tIns="0" rIns="0" bIns="0" rtlCol="0" anchor="t"/>
          <a:lstStyle/>
          <a:p>
            <a:pPr algn="l" indent="0" marL="0">
              <a:lnSpc>
                <a:spcPct val="104000"/>
              </a:lnSpc>
              <a:buNone/>
            </a:pPr>
            <a:r>
              <a:rPr lang="en-US" sz="1600" dirty="0">
                <a:solidFill>
                  <a:srgbClr val="2C2926"/>
                </a:solidFill>
                <a:latin typeface="Bricolage Grotesque SemiBold" pitchFamily="34" charset="0"/>
                <a:ea typeface="Bricolage Grotesque SemiBold" pitchFamily="34" charset="-122"/>
                <a:cs typeface="Bricolage Grotesque SemiBold" pitchFamily="34" charset="-120"/>
              </a:rPr>
              <a:t>Tách biến </a:t>
            </a:r>
            <a:pPr algn="l" indent="0" marL="0">
              <a:lnSpc>
                <a:spcPct val="104000"/>
              </a:lnSpc>
              <a:buNone/>
            </a:pPr>
            <a:r>
              <a:rPr lang="en-US" sz="1600" dirty="0">
                <a:solidFill>
                  <a:srgbClr val="2C2926"/>
                </a:solidFill>
                <a:highlight>
                  <a:srgbClr val="F2F2F2"/>
                </a:highlight>
                <a:latin typeface="Consolas" pitchFamily="34" charset="0"/>
                <a:ea typeface="Consolas" pitchFamily="34" charset="-122"/>
                <a:cs typeface="Consolas" pitchFamily="34" charset="-120"/>
              </a:rPr>
              <a:t>duration</a:t>
            </a:r>
            <a:endParaRPr lang="en-US" sz="1600" dirty="0"/>
          </a:p>
        </p:txBody>
      </p:sp>
      <p:sp>
        <p:nvSpPr>
          <p:cNvPr id="18" name="Text 15"/>
          <p:cNvSpPr/>
          <p:nvPr/>
        </p:nvSpPr>
        <p:spPr>
          <a:xfrm>
            <a:off x="8715455" y="2359521"/>
            <a:ext cx="2821016"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Phân tách thành </a:t>
            </a:r>
            <a:pPr algn="l" indent="0" marL="0">
              <a:lnSpc>
                <a:spcPct val="133000"/>
              </a:lnSpc>
              <a:buNone/>
            </a:pPr>
            <a:r>
              <a:rPr lang="en-US" sz="1300" dirty="0">
                <a:solidFill>
                  <a:srgbClr val="2C2926"/>
                </a:solidFill>
                <a:highlight>
                  <a:srgbClr val="F2F2F2"/>
                </a:highlight>
                <a:latin typeface="Consolas" pitchFamily="34" charset="0"/>
                <a:ea typeface="Consolas" pitchFamily="34" charset="-122"/>
                <a:cs typeface="Consolas" pitchFamily="34" charset="-120"/>
              </a:rPr>
              <a:t>duration_minutes</a:t>
            </a:r>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 (Phim lẻ) và </a:t>
            </a:r>
            <a:pPr algn="l" indent="0" marL="0">
              <a:lnSpc>
                <a:spcPct val="133000"/>
              </a:lnSpc>
              <a:buNone/>
            </a:pPr>
            <a:r>
              <a:rPr lang="en-US" sz="1300" dirty="0">
                <a:solidFill>
                  <a:srgbClr val="2C2926"/>
                </a:solidFill>
                <a:highlight>
                  <a:srgbClr val="F2F2F2"/>
                </a:highlight>
                <a:latin typeface="Consolas" pitchFamily="34" charset="0"/>
                <a:ea typeface="Consolas" pitchFamily="34" charset="-122"/>
                <a:cs typeface="Consolas" pitchFamily="34" charset="-120"/>
              </a:rPr>
              <a:t>duration_episodes</a:t>
            </a:r>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 (Phim bộ) để phân tích riêng biệt từng định dạng nội dung.</a:t>
            </a:r>
            <a:endParaRPr lang="en-US" sz="1300" dirty="0"/>
          </a:p>
        </p:txBody>
      </p:sp>
      <p:sp>
        <p:nvSpPr>
          <p:cNvPr id="19" name="Text 16"/>
          <p:cNvSpPr/>
          <p:nvPr/>
        </p:nvSpPr>
        <p:spPr>
          <a:xfrm>
            <a:off x="4675071" y="3779689"/>
            <a:ext cx="248041" cy="310059"/>
          </a:xfrm>
          <a:prstGeom prst="rect">
            <a:avLst/>
          </a:prstGeom>
          <a:noFill/>
          <a:ln/>
        </p:spPr>
        <p:txBody>
          <a:bodyPr wrap="none" lIns="0" tIns="0" rIns="0" bIns="0" rtlCol="0" anchor="ctr"/>
          <a:lstStyle/>
          <a:p>
            <a:pPr algn="ctr" indent="0" marL="0">
              <a:lnSpc>
                <a:spcPct val="100000"/>
              </a:lnSpc>
              <a:buNone/>
            </a:pPr>
            <a:r>
              <a:rPr lang="en-US" sz="1950" dirty="0">
                <a:solidFill>
                  <a:srgbClr val="2C2926"/>
                </a:solidFill>
                <a:latin typeface="Bricolage Grotesque SemiBold" pitchFamily="34" charset="0"/>
                <a:ea typeface="Bricolage Grotesque SemiBold" pitchFamily="34" charset="-122"/>
                <a:cs typeface="Bricolage Grotesque SemiBold" pitchFamily="34" charset="-120"/>
              </a:rPr>
              <a:t>3</a:t>
            </a:r>
            <a:endParaRPr lang="en-US" sz="1950" dirty="0"/>
          </a:p>
        </p:txBody>
      </p:sp>
      <p:sp>
        <p:nvSpPr>
          <p:cNvPr id="20" name="Text 17"/>
          <p:cNvSpPr/>
          <p:nvPr/>
        </p:nvSpPr>
        <p:spPr>
          <a:xfrm>
            <a:off x="5150416" y="3805535"/>
            <a:ext cx="6386055" cy="258465"/>
          </a:xfrm>
          <a:prstGeom prst="rect">
            <a:avLst/>
          </a:prstGeom>
          <a:noFill/>
          <a:ln/>
        </p:spPr>
        <p:txBody>
          <a:bodyPr wrap="none" lIns="0" tIns="0" rIns="0" bIns="0" rtlCol="0" anchor="t"/>
          <a:lstStyle/>
          <a:p>
            <a:pPr algn="l" indent="0" marL="0">
              <a:lnSpc>
                <a:spcPct val="104000"/>
              </a:lnSpc>
              <a:buNone/>
            </a:pPr>
            <a:r>
              <a:rPr lang="en-US" sz="1600" dirty="0">
                <a:solidFill>
                  <a:srgbClr val="2C2926"/>
                </a:solidFill>
                <a:latin typeface="Bricolage Grotesque SemiBold" pitchFamily="34" charset="0"/>
                <a:ea typeface="Bricolage Grotesque SemiBold" pitchFamily="34" charset="-122"/>
                <a:cs typeface="Bricolage Grotesque SemiBold" pitchFamily="34" charset="-120"/>
              </a:rPr>
              <a:t>Chuẩn hóa &amp; xử lý khuyết thiếu</a:t>
            </a:r>
            <a:endParaRPr lang="en-US" sz="1600" dirty="0"/>
          </a:p>
        </p:txBody>
      </p:sp>
      <p:sp>
        <p:nvSpPr>
          <p:cNvPr id="21" name="Text 18"/>
          <p:cNvSpPr/>
          <p:nvPr/>
        </p:nvSpPr>
        <p:spPr>
          <a:xfrm>
            <a:off x="5150416" y="4229298"/>
            <a:ext cx="638605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Chuẩn hóa định dạng </a:t>
            </a:r>
            <a:pPr algn="l" indent="0" marL="0">
              <a:lnSpc>
                <a:spcPct val="133000"/>
              </a:lnSpc>
              <a:buNone/>
            </a:pPr>
            <a:r>
              <a:rPr lang="en-US" sz="1300" dirty="0">
                <a:solidFill>
                  <a:srgbClr val="2C2926"/>
                </a:solidFill>
                <a:highlight>
                  <a:srgbClr val="F2F2F2"/>
                </a:highlight>
                <a:latin typeface="Consolas" pitchFamily="34" charset="0"/>
                <a:ea typeface="Consolas" pitchFamily="34" charset="-122"/>
                <a:cs typeface="Consolas" pitchFamily="34" charset="-120"/>
              </a:rPr>
              <a:t>date_added</a:t>
            </a:r>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 và xử lý các giá trị thiếu được mã hóa dạng </a:t>
            </a:r>
            <a:pPr algn="l" indent="0" marL="0">
              <a:lnSpc>
                <a:spcPct val="133000"/>
              </a:lnSpc>
              <a:buNone/>
            </a:pPr>
            <a:r>
              <a:rPr lang="en-US" sz="1300" dirty="0">
                <a:solidFill>
                  <a:srgbClr val="2C2926"/>
                </a:solidFill>
                <a:highlight>
                  <a:srgbClr val="F2F2F2"/>
                </a:highlight>
                <a:latin typeface="Consolas" pitchFamily="34" charset="0"/>
                <a:ea typeface="Consolas" pitchFamily="34" charset="-122"/>
                <a:cs typeface="Consolas" pitchFamily="34" charset="-120"/>
              </a:rPr>
              <a:t>Unknown</a:t>
            </a:r>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 hoặc </a:t>
            </a:r>
            <a:pPr algn="l" indent="0" marL="0">
              <a:lnSpc>
                <a:spcPct val="133000"/>
              </a:lnSpc>
              <a:buNone/>
            </a:pPr>
            <a:r>
              <a:rPr lang="en-US" sz="1300" dirty="0">
                <a:solidFill>
                  <a:srgbClr val="2C2926"/>
                </a:solidFill>
                <a:highlight>
                  <a:srgbClr val="F2F2F2"/>
                </a:highlight>
                <a:latin typeface="Consolas" pitchFamily="34" charset="0"/>
                <a:ea typeface="Consolas" pitchFamily="34" charset="-122"/>
                <a:cs typeface="Consolas" pitchFamily="34" charset="-120"/>
              </a:rPr>
              <a:t>0</a:t>
            </a:r>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 để đảm bảo độ chính xác phân tích.</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973237"/>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2C2926"/>
                </a:solidFill>
                <a:latin typeface="Bricolage Grotesque SemiBold" pitchFamily="34" charset="0"/>
                <a:ea typeface="Bricolage Grotesque SemiBold" pitchFamily="34" charset="-122"/>
                <a:cs typeface="Bricolage Grotesque SemiBold" pitchFamily="34" charset="-120"/>
              </a:rPr>
              <a:t>Cơ cấu Danh mục: Movie vs. TV Show</a:t>
            </a:r>
            <a:endParaRPr lang="en-US" sz="3250" dirty="0"/>
          </a:p>
        </p:txBody>
      </p:sp>
      <p:pic>
        <p:nvPicPr>
          <p:cNvPr id="3" name="Image 0" descr="preencoded.png">    </p:cNvPr>
          <p:cNvPicPr>
            <a:picLocks noChangeAspect="1"/>
          </p:cNvPicPr>
          <p:nvPr/>
        </p:nvPicPr>
        <p:blipFill>
          <a:blip r:embed="rId1"/>
          <a:stretch>
            <a:fillRect/>
          </a:stretch>
        </p:blipFill>
        <p:spPr>
          <a:xfrm>
            <a:off x="661475" y="1924050"/>
            <a:ext cx="4669018" cy="3542605"/>
          </a:xfrm>
          <a:prstGeom prst="rect">
            <a:avLst/>
          </a:prstGeom>
        </p:spPr>
      </p:pic>
      <p:sp>
        <p:nvSpPr>
          <p:cNvPr id="4" name="Text 1"/>
          <p:cNvSpPr/>
          <p:nvPr/>
        </p:nvSpPr>
        <p:spPr>
          <a:xfrm>
            <a:off x="5740256" y="1903313"/>
            <a:ext cx="5796214" cy="258465"/>
          </a:xfrm>
          <a:prstGeom prst="rect">
            <a:avLst/>
          </a:prstGeom>
          <a:noFill/>
          <a:ln/>
        </p:spPr>
        <p:txBody>
          <a:bodyPr wrap="none" lIns="0" tIns="0" rIns="0" bIns="0" rtlCol="0" anchor="t"/>
          <a:lstStyle/>
          <a:p>
            <a:pPr algn="l" indent="0" marL="0">
              <a:lnSpc>
                <a:spcPct val="104000"/>
              </a:lnSpc>
              <a:buNone/>
            </a:pPr>
            <a:r>
              <a:rPr lang="en-US" sz="1600" dirty="0">
                <a:solidFill>
                  <a:srgbClr val="2C2926"/>
                </a:solidFill>
                <a:latin typeface="Bricolage Grotesque SemiBold" pitchFamily="34" charset="0"/>
                <a:ea typeface="Bricolage Grotesque SemiBold" pitchFamily="34" charset="-122"/>
                <a:cs typeface="Bricolage Grotesque SemiBold" pitchFamily="34" charset="-120"/>
              </a:rPr>
              <a:t>Insight cốt lõi</a:t>
            </a:r>
            <a:endParaRPr lang="en-US" sz="1600" dirty="0"/>
          </a:p>
        </p:txBody>
      </p:sp>
      <p:sp>
        <p:nvSpPr>
          <p:cNvPr id="5" name="Text 2"/>
          <p:cNvSpPr/>
          <p:nvPr/>
        </p:nvSpPr>
        <p:spPr>
          <a:xfrm>
            <a:off x="5740256" y="2327077"/>
            <a:ext cx="5796214"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Netflix </a:t>
            </a:r>
            <a:pPr algn="l" indent="0" marL="0">
              <a:lnSpc>
                <a:spcPct val="133000"/>
              </a:lnSpc>
              <a:buNone/>
            </a:pPr>
            <a:r>
              <a:rPr lang="en-US" sz="1300" b="1" dirty="0">
                <a:solidFill>
                  <a:srgbClr val="2C2926"/>
                </a:solidFill>
                <a:latin typeface="Inter Bold" pitchFamily="34" charset="0"/>
                <a:ea typeface="Inter Bold" pitchFamily="34" charset="-122"/>
                <a:cs typeface="Inter Bold" pitchFamily="34" charset="-120"/>
              </a:rPr>
              <a:t>ưu tiên Phim lẻ</a:t>
            </a:r>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 — chiếm gần 7 trên 10 đầu nội dung trong thư viện — nhưng Phim bộ đang gặp thách thức nghiêm trọng về tỷ lệ duy trì người xem dài hạn.</a:t>
            </a:r>
            <a:endParaRPr lang="en-US" sz="1300" dirty="0"/>
          </a:p>
        </p:txBody>
      </p:sp>
      <p:sp>
        <p:nvSpPr>
          <p:cNvPr id="6" name="Shape 3"/>
          <p:cNvSpPr/>
          <p:nvPr/>
        </p:nvSpPr>
        <p:spPr>
          <a:xfrm>
            <a:off x="5740256" y="3306961"/>
            <a:ext cx="2815460" cy="1031677"/>
          </a:xfrm>
          <a:prstGeom prst="roundRect">
            <a:avLst>
              <a:gd name="adj" fmla="val 6733"/>
            </a:avLst>
          </a:prstGeom>
          <a:solidFill>
            <a:srgbClr val="FFFFFF"/>
          </a:solidFill>
          <a:ln w="6350">
            <a:solidFill>
              <a:srgbClr val="F8ECD3"/>
            </a:solidFill>
            <a:prstDash val="solid"/>
          </a:ln>
        </p:spPr>
      </p:sp>
      <p:sp>
        <p:nvSpPr>
          <p:cNvPr id="7" name="Text 4"/>
          <p:cNvSpPr/>
          <p:nvPr/>
        </p:nvSpPr>
        <p:spPr>
          <a:xfrm>
            <a:off x="5911901" y="3478609"/>
            <a:ext cx="2472172" cy="258465"/>
          </a:xfrm>
          <a:prstGeom prst="rect">
            <a:avLst/>
          </a:prstGeom>
          <a:noFill/>
          <a:ln/>
        </p:spPr>
        <p:txBody>
          <a:bodyPr wrap="none" lIns="0" tIns="0" rIns="0" bIns="0" rtlCol="0" anchor="t"/>
          <a:lstStyle/>
          <a:p>
            <a:pPr algn="l" indent="0" marL="0">
              <a:lnSpc>
                <a:spcPct val="104000"/>
              </a:lnSpc>
              <a:buNone/>
            </a:pPr>
            <a:r>
              <a:rPr lang="en-US" sz="1600" dirty="0">
                <a:solidFill>
                  <a:srgbClr val="E7BF6A"/>
                </a:solidFill>
                <a:latin typeface="Bricolage Grotesque SemiBold" pitchFamily="34" charset="0"/>
                <a:ea typeface="Bricolage Grotesque SemiBold" pitchFamily="34" charset="-122"/>
                <a:cs typeface="Bricolage Grotesque SemiBold" pitchFamily="34" charset="-120"/>
              </a:rPr>
              <a:t>69,7%</a:t>
            </a:r>
            <a:endParaRPr lang="en-US" sz="1600" dirty="0"/>
          </a:p>
        </p:txBody>
      </p:sp>
      <p:sp>
        <p:nvSpPr>
          <p:cNvPr id="8" name="Text 5"/>
          <p:cNvSpPr/>
          <p:nvPr/>
        </p:nvSpPr>
        <p:spPr>
          <a:xfrm>
            <a:off x="5911901" y="3902373"/>
            <a:ext cx="2472172" cy="264616"/>
          </a:xfrm>
          <a:prstGeom prst="rect">
            <a:avLst/>
          </a:prstGeom>
          <a:noFill/>
          <a:ln/>
        </p:spPr>
        <p:txBody>
          <a:bodyPr wrap="none" lIns="0" tIns="0" rIns="0" bIns="0" rtlCol="0" anchor="t"/>
          <a:lstStyle/>
          <a:p>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6.129 Phim lẻ (Movies)</a:t>
            </a:r>
            <a:endParaRPr lang="en-US" sz="1300" dirty="0"/>
          </a:p>
        </p:txBody>
      </p:sp>
      <p:sp>
        <p:nvSpPr>
          <p:cNvPr id="9" name="Shape 6"/>
          <p:cNvSpPr/>
          <p:nvPr/>
        </p:nvSpPr>
        <p:spPr>
          <a:xfrm>
            <a:off x="8721011" y="3306961"/>
            <a:ext cx="2815460" cy="1031677"/>
          </a:xfrm>
          <a:prstGeom prst="roundRect">
            <a:avLst>
              <a:gd name="adj" fmla="val 6733"/>
            </a:avLst>
          </a:prstGeom>
          <a:solidFill>
            <a:srgbClr val="FFFFFF"/>
          </a:solidFill>
          <a:ln w="6350">
            <a:solidFill>
              <a:srgbClr val="F8ECD3"/>
            </a:solidFill>
            <a:prstDash val="solid"/>
          </a:ln>
        </p:spPr>
      </p:sp>
      <p:sp>
        <p:nvSpPr>
          <p:cNvPr id="10" name="Text 7"/>
          <p:cNvSpPr/>
          <p:nvPr/>
        </p:nvSpPr>
        <p:spPr>
          <a:xfrm>
            <a:off x="8892655" y="3478609"/>
            <a:ext cx="2472172" cy="258465"/>
          </a:xfrm>
          <a:prstGeom prst="rect">
            <a:avLst/>
          </a:prstGeom>
          <a:noFill/>
          <a:ln/>
        </p:spPr>
        <p:txBody>
          <a:bodyPr wrap="none" lIns="0" tIns="0" rIns="0" bIns="0" rtlCol="0" anchor="t"/>
          <a:lstStyle/>
          <a:p>
            <a:pPr algn="l" indent="0" marL="0">
              <a:lnSpc>
                <a:spcPct val="104000"/>
              </a:lnSpc>
              <a:buNone/>
            </a:pPr>
            <a:r>
              <a:rPr lang="en-US" sz="1600" dirty="0">
                <a:solidFill>
                  <a:srgbClr val="2C2926"/>
                </a:solidFill>
                <a:latin typeface="Bricolage Grotesque SemiBold" pitchFamily="34" charset="0"/>
                <a:ea typeface="Bricolage Grotesque SemiBold" pitchFamily="34" charset="-122"/>
                <a:cs typeface="Bricolage Grotesque SemiBold" pitchFamily="34" charset="-120"/>
              </a:rPr>
              <a:t>30,3%</a:t>
            </a:r>
            <a:endParaRPr lang="en-US" sz="1600" dirty="0"/>
          </a:p>
        </p:txBody>
      </p:sp>
      <p:sp>
        <p:nvSpPr>
          <p:cNvPr id="11" name="Text 8"/>
          <p:cNvSpPr/>
          <p:nvPr/>
        </p:nvSpPr>
        <p:spPr>
          <a:xfrm>
            <a:off x="8892655" y="3902373"/>
            <a:ext cx="2472172" cy="264616"/>
          </a:xfrm>
          <a:prstGeom prst="rect">
            <a:avLst/>
          </a:prstGeom>
          <a:noFill/>
          <a:ln/>
        </p:spPr>
        <p:txBody>
          <a:bodyPr wrap="none" lIns="0" tIns="0" rIns="0" bIns="0" rtlCol="0" anchor="t"/>
          <a:lstStyle/>
          <a:p>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2.664 Phim bộ (TV Shows)</a:t>
            </a:r>
            <a:endParaRPr lang="en-US" sz="1300" dirty="0"/>
          </a:p>
        </p:txBody>
      </p:sp>
      <p:sp>
        <p:nvSpPr>
          <p:cNvPr id="12" name="Shape 9"/>
          <p:cNvSpPr/>
          <p:nvPr/>
        </p:nvSpPr>
        <p:spPr>
          <a:xfrm>
            <a:off x="5740256" y="4524673"/>
            <a:ext cx="5796214" cy="1174055"/>
          </a:xfrm>
          <a:prstGeom prst="roundRect">
            <a:avLst>
              <a:gd name="adj" fmla="val 5917"/>
            </a:avLst>
          </a:prstGeom>
          <a:solidFill>
            <a:srgbClr val="FCF2B5"/>
          </a:solidFill>
          <a:ln/>
        </p:spPr>
      </p:sp>
      <p:pic>
        <p:nvPicPr>
          <p:cNvPr id="13" name="Image 1" descr="preencoded.png">    </p:cNvPr>
          <p:cNvPicPr>
            <a:picLocks noChangeAspect="1"/>
          </p:cNvPicPr>
          <p:nvPr/>
        </p:nvPicPr>
        <p:blipFill>
          <a:blip r:embed="rId2"/>
          <a:stretch>
            <a:fillRect/>
          </a:stretch>
        </p:blipFill>
        <p:spPr>
          <a:xfrm>
            <a:off x="5905551" y="4777085"/>
            <a:ext cx="206667" cy="165298"/>
          </a:xfrm>
          <a:prstGeom prst="rect">
            <a:avLst/>
          </a:prstGeom>
        </p:spPr>
      </p:pic>
      <p:sp>
        <p:nvSpPr>
          <p:cNvPr id="14" name="Text 10"/>
          <p:cNvSpPr/>
          <p:nvPr/>
        </p:nvSpPr>
        <p:spPr>
          <a:xfrm>
            <a:off x="6277512" y="4714776"/>
            <a:ext cx="5093664" cy="793849"/>
          </a:xfrm>
          <a:prstGeom prst="rect">
            <a:avLst/>
          </a:prstGeom>
          <a:noFill/>
          <a:ln/>
        </p:spPr>
        <p:txBody>
          <a:bodyPr wrap="square" lIns="0" tIns="0" rIns="0" bIns="0" rtlCol="0" anchor="t">
            <a:normAutofit/>
          </a:bodyPr>
          <a:lstStyle/>
          <a:p>
            <a:pPr algn="l" indent="0" marL="0">
              <a:lnSpc>
                <a:spcPct val="133000"/>
              </a:lnSpc>
              <a:buNone/>
            </a:pPr>
            <a:r>
              <a:rPr lang="en-US" sz="1300" b="1" dirty="0">
                <a:solidFill>
                  <a:srgbClr val="000000"/>
                </a:solidFill>
                <a:latin typeface="Inter Bold" pitchFamily="34" charset="0"/>
                <a:ea typeface="Inter Bold" pitchFamily="34" charset="-122"/>
                <a:cs typeface="Inter Bold" pitchFamily="34" charset="-120"/>
              </a:rPr>
              <a:t>67,2% TV Show dừng lại ở Season 1</a:t>
            </a:r>
            <a:pPr algn="l" indent="0" marL="0">
              <a:lnSpc>
                <a:spcPct val="133000"/>
              </a:lnSpc>
              <a:buNone/>
            </a:pPr>
            <a:r>
              <a:rPr lang="en-US" sz="1300" dirty="0">
                <a:solidFill>
                  <a:srgbClr val="000000"/>
                </a:solidFill>
                <a:latin typeface="Inter" pitchFamily="34" charset="0"/>
                <a:ea typeface="Inter" pitchFamily="34" charset="-122"/>
                <a:cs typeface="Inter" pitchFamily="34" charset="-120"/>
              </a:rPr>
              <a:t> — tỷ lệ drop-off cao, ảnh hưởng trực tiếp đến khả năng giữ chân người dùng dài hạn và hiệu quả đầu tư sản xuất.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454819"/>
            <a:ext cx="10868745" cy="258465"/>
          </a:xfrm>
          <a:prstGeom prst="rect">
            <a:avLst/>
          </a:prstGeom>
          <a:noFill/>
          <a:ln/>
        </p:spPr>
        <p:txBody>
          <a:bodyPr wrap="none" lIns="0" tIns="0" rIns="0" bIns="0" rtlCol="0" anchor="t"/>
          <a:lstStyle/>
          <a:p>
            <a:pPr algn="l" indent="0" marL="0">
              <a:lnSpc>
                <a:spcPct val="104000"/>
              </a:lnSpc>
              <a:buNone/>
            </a:pPr>
            <a:r>
              <a:rPr lang="en-US" sz="1600" dirty="0">
                <a:solidFill>
                  <a:srgbClr val="2C2926"/>
                </a:solidFill>
                <a:latin typeface="Bricolage Grotesque SemiBold" pitchFamily="34" charset="0"/>
                <a:ea typeface="Bricolage Grotesque SemiBold" pitchFamily="34" charset="-122"/>
                <a:cs typeface="Bricolage Grotesque SemiBold" pitchFamily="34" charset="-120"/>
              </a:rPr>
              <a:t>Chiến lược Địa phương hóa (Regional Strategy)</a:t>
            </a:r>
            <a:endParaRPr lang="en-US" sz="1600" dirty="0"/>
          </a:p>
        </p:txBody>
      </p:sp>
      <p:sp>
        <p:nvSpPr>
          <p:cNvPr id="3" name="Text 1"/>
          <p:cNvSpPr/>
          <p:nvPr/>
        </p:nvSpPr>
        <p:spPr>
          <a:xfrm>
            <a:off x="661475" y="795933"/>
            <a:ext cx="11478330" cy="99120"/>
          </a:xfrm>
          <a:prstGeom prst="rect">
            <a:avLst/>
          </a:prstGeom>
          <a:noFill/>
          <a:ln/>
        </p:spPr>
        <p:txBody>
          <a:bodyPr wrap="none" lIns="0" tIns="0" rIns="0" bIns="0" rtlCol="0" anchor="t"/>
          <a:lstStyle/>
          <a:p>
            <a:pPr algn="l" indent="0" marL="0">
              <a:lnSpc>
                <a:spcPct val="100000"/>
              </a:lnSpc>
              <a:buNone/>
            </a:pPr>
            <a:r>
              <a:rPr lang="en-US" sz="650" dirty="0">
                <a:solidFill>
                  <a:srgbClr val="2C2926"/>
                </a:solidFill>
                <a:latin typeface="Inter" pitchFamily="34" charset="0"/>
                <a:ea typeface="Inter" pitchFamily="34" charset="-122"/>
                <a:cs typeface="Inter" pitchFamily="34" charset="-120"/>
              </a:rPr>
              <a:t>Nội dung được </a:t>
            </a:r>
            <a:pPr algn="l" indent="0" marL="0">
              <a:lnSpc>
                <a:spcPct val="100000"/>
              </a:lnSpc>
              <a:buNone/>
            </a:pPr>
            <a:r>
              <a:rPr lang="en-US" sz="650" b="1" dirty="0">
                <a:solidFill>
                  <a:srgbClr val="2C2926"/>
                </a:solidFill>
                <a:latin typeface="Inter Bold" pitchFamily="34" charset="0"/>
                <a:ea typeface="Inter Bold" pitchFamily="34" charset="-122"/>
                <a:cs typeface="Inter Bold" pitchFamily="34" charset="-120"/>
              </a:rPr>
              <a:t>"may đo" theo văn hóa tiêu thụ của từng khu vực</a:t>
            </a:r>
            <a:pPr algn="l" indent="0" marL="0">
              <a:lnSpc>
                <a:spcPct val="100000"/>
              </a:lnSpc>
              <a:buNone/>
            </a:pPr>
            <a:r>
              <a:rPr lang="en-US" sz="650" dirty="0">
                <a:solidFill>
                  <a:srgbClr val="2C2926"/>
                </a:solidFill>
                <a:latin typeface="Inter" pitchFamily="34" charset="0"/>
                <a:ea typeface="Inter" pitchFamily="34" charset="-122"/>
                <a:cs typeface="Inter" pitchFamily="34" charset="-120"/>
              </a:rPr>
              <a:t> — chiến lược nội dung không phải "một kích cỡ cho tất cả."</a:t>
            </a:r>
            <a:endParaRPr lang="en-US" sz="650" dirty="0"/>
          </a:p>
        </p:txBody>
      </p:sp>
      <p:pic>
        <p:nvPicPr>
          <p:cNvPr id="4" name="Image 0" descr="preencoded.png">    </p:cNvPr>
          <p:cNvPicPr>
            <a:picLocks noChangeAspect="1"/>
          </p:cNvPicPr>
          <p:nvPr/>
        </p:nvPicPr>
        <p:blipFill>
          <a:blip r:embed="rId1"/>
          <a:stretch>
            <a:fillRect/>
          </a:stretch>
        </p:blipFill>
        <p:spPr>
          <a:xfrm>
            <a:off x="661475" y="941487"/>
            <a:ext cx="10868745" cy="6086574"/>
          </a:xfrm>
          <a:prstGeom prst="rect">
            <a:avLst/>
          </a:prstGeom>
        </p:spPr>
      </p:pic>
      <p:sp>
        <p:nvSpPr>
          <p:cNvPr id="5" name="Shape 2"/>
          <p:cNvSpPr/>
          <p:nvPr/>
        </p:nvSpPr>
        <p:spPr>
          <a:xfrm>
            <a:off x="661475" y="7074495"/>
            <a:ext cx="10868745" cy="530225"/>
          </a:xfrm>
          <a:prstGeom prst="roundRect">
            <a:avLst>
              <a:gd name="adj" fmla="val 6550"/>
            </a:avLst>
          </a:prstGeom>
          <a:solidFill>
            <a:srgbClr val="FFFFFF"/>
          </a:solidFill>
          <a:ln w="6350">
            <a:solidFill>
              <a:srgbClr val="F8ECD3"/>
            </a:solidFill>
            <a:prstDash val="solid"/>
          </a:ln>
        </p:spPr>
      </p:sp>
      <p:sp>
        <p:nvSpPr>
          <p:cNvPr id="6" name="Shape 3"/>
          <p:cNvSpPr/>
          <p:nvPr/>
        </p:nvSpPr>
        <p:spPr>
          <a:xfrm>
            <a:off x="667825" y="7080845"/>
            <a:ext cx="3618616" cy="517525"/>
          </a:xfrm>
          <a:custGeom>
            <a:avLst/>
            <a:gdLst/>
            <a:ahLst/>
            <a:cxnLst/>
            <a:rect l="l" t="t" r="r" b="b"/>
            <a:pathLst>
              <a:path w="3618616" h="517525">
                <a:moveTo>
                  <a:pt x="28943" y="0"/>
                </a:moveTo>
                <a:lnTo>
                  <a:pt x="3618616" y="0"/>
                </a:lnTo>
                <a:lnTo>
                  <a:pt x="3618616" y="517525"/>
                </a:lnTo>
                <a:lnTo>
                  <a:pt x="28943" y="517525"/>
                </a:lnTo>
                <a:arcTo hR="28944" wR="28943" stAng="5400000" swAng="5400000"/>
                <a:lnTo>
                  <a:pt x="0" y="28944"/>
                </a:lnTo>
                <a:arcTo hR="28944" wR="28943" stAng="10800000" swAng="5400000"/>
                <a:close/>
              </a:path>
            </a:pathLst>
          </a:custGeom>
          <a:solidFill>
            <a:srgbClr val="FFFFFF"/>
          </a:solidFill>
          <a:ln/>
        </p:spPr>
      </p:sp>
      <p:sp>
        <p:nvSpPr>
          <p:cNvPr id="7" name="Text 4"/>
          <p:cNvSpPr/>
          <p:nvPr/>
        </p:nvSpPr>
        <p:spPr>
          <a:xfrm>
            <a:off x="750472" y="7163495"/>
            <a:ext cx="3453321" cy="129183"/>
          </a:xfrm>
          <a:prstGeom prst="rect">
            <a:avLst/>
          </a:prstGeom>
          <a:noFill/>
          <a:ln/>
        </p:spPr>
        <p:txBody>
          <a:bodyPr wrap="none" lIns="0" tIns="0" rIns="0" bIns="0" rtlCol="0" anchor="t"/>
          <a:lstStyle/>
          <a:p>
            <a:pPr algn="l" indent="0" marL="0">
              <a:lnSpc>
                <a:spcPct val="104000"/>
              </a:lnSpc>
              <a:buNone/>
            </a:pPr>
            <a:r>
              <a:rPr lang="en-US" sz="80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800" dirty="0">
                <a:solidFill>
                  <a:srgbClr val="2C2926"/>
                </a:solidFill>
                <a:latin typeface="Bricolage Grotesque SemiBold" pitchFamily="34" charset="0"/>
                <a:ea typeface="Bricolage Grotesque SemiBold" pitchFamily="34" charset="-122"/>
                <a:cs typeface="Bricolage Grotesque SemiBold" pitchFamily="34" charset="-120"/>
              </a:rPr>
              <a:t> Ấn Độ — 92% Movie</a:t>
            </a:r>
            <a:endParaRPr lang="en-US" sz="800" dirty="0"/>
          </a:p>
        </p:txBody>
      </p:sp>
      <p:sp>
        <p:nvSpPr>
          <p:cNvPr id="8" name="Text 5"/>
          <p:cNvSpPr/>
          <p:nvPr/>
        </p:nvSpPr>
        <p:spPr>
          <a:xfrm>
            <a:off x="750472" y="7317482"/>
            <a:ext cx="3453321" cy="198239"/>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2C2926"/>
                </a:solidFill>
                <a:latin typeface="Inter" pitchFamily="34" charset="0"/>
                <a:ea typeface="Inter" pitchFamily="34" charset="-122"/>
                <a:cs typeface="Inter" pitchFamily="34" charset="-120"/>
              </a:rPr>
              <a:t>Phản ánh văn hóa Bollywood và sở thích xem phim rạp mạnh mẽ. Chiến lược mua bản quyền cần tập trung vào điện ảnh.</a:t>
            </a:r>
            <a:endParaRPr lang="en-US" sz="650" dirty="0"/>
          </a:p>
        </p:txBody>
      </p:sp>
      <p:sp>
        <p:nvSpPr>
          <p:cNvPr id="9" name="Shape 6"/>
          <p:cNvSpPr/>
          <p:nvPr/>
        </p:nvSpPr>
        <p:spPr>
          <a:xfrm>
            <a:off x="4286440" y="7080845"/>
            <a:ext cx="3618715" cy="517525"/>
          </a:xfrm>
          <a:prstGeom prst="rect">
            <a:avLst/>
          </a:prstGeom>
          <a:solidFill>
            <a:srgbClr val="FFFFFF"/>
          </a:solidFill>
          <a:ln/>
        </p:spPr>
      </p:sp>
      <p:sp>
        <p:nvSpPr>
          <p:cNvPr id="10" name="Shape 7"/>
          <p:cNvSpPr/>
          <p:nvPr/>
        </p:nvSpPr>
        <p:spPr>
          <a:xfrm>
            <a:off x="4286440" y="7080845"/>
            <a:ext cx="12700" cy="517525"/>
          </a:xfrm>
          <a:prstGeom prst="roundRect">
            <a:avLst>
              <a:gd name="adj" fmla="val 49999"/>
            </a:avLst>
          </a:prstGeom>
          <a:solidFill>
            <a:srgbClr val="F8ECD3"/>
          </a:solidFill>
          <a:ln/>
        </p:spPr>
      </p:sp>
      <p:sp>
        <p:nvSpPr>
          <p:cNvPr id="11" name="Text 8"/>
          <p:cNvSpPr/>
          <p:nvPr/>
        </p:nvSpPr>
        <p:spPr>
          <a:xfrm>
            <a:off x="4369088" y="7163495"/>
            <a:ext cx="3453421" cy="129183"/>
          </a:xfrm>
          <a:prstGeom prst="rect">
            <a:avLst/>
          </a:prstGeom>
          <a:noFill/>
          <a:ln/>
        </p:spPr>
        <p:txBody>
          <a:bodyPr wrap="none" lIns="0" tIns="0" rIns="0" bIns="0" rtlCol="0" anchor="t"/>
          <a:lstStyle/>
          <a:p>
            <a:pPr algn="l" indent="0" marL="0">
              <a:lnSpc>
                <a:spcPct val="104000"/>
              </a:lnSpc>
              <a:buNone/>
            </a:pPr>
            <a:r>
              <a:rPr lang="en-US" sz="80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800" dirty="0">
                <a:solidFill>
                  <a:srgbClr val="2C2926"/>
                </a:solidFill>
                <a:latin typeface="Bricolage Grotesque SemiBold" pitchFamily="34" charset="0"/>
                <a:ea typeface="Bricolage Grotesque SemiBold" pitchFamily="34" charset="-122"/>
                <a:cs typeface="Bricolage Grotesque SemiBold" pitchFamily="34" charset="-120"/>
              </a:rPr>
              <a:t> Hàn Quốc — 73,6% TV Show</a:t>
            </a:r>
            <a:endParaRPr lang="en-US" sz="800" dirty="0"/>
          </a:p>
        </p:txBody>
      </p:sp>
      <p:sp>
        <p:nvSpPr>
          <p:cNvPr id="12" name="Text 9"/>
          <p:cNvSpPr/>
          <p:nvPr/>
        </p:nvSpPr>
        <p:spPr>
          <a:xfrm>
            <a:off x="4369088" y="7317482"/>
            <a:ext cx="3453421" cy="198239"/>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2C2926"/>
                </a:solidFill>
                <a:latin typeface="Inter" pitchFamily="34" charset="0"/>
                <a:ea typeface="Inter" pitchFamily="34" charset="-122"/>
                <a:cs typeface="Inter" pitchFamily="34" charset="-120"/>
              </a:rPr>
              <a:t>K-Drama là công cụ giữ chân thuê bao dài hạn hiệu quả nhất. Ưu tiên thầu series nhiều mùa.</a:t>
            </a:r>
            <a:endParaRPr lang="en-US" sz="650" dirty="0"/>
          </a:p>
        </p:txBody>
      </p:sp>
      <p:sp>
        <p:nvSpPr>
          <p:cNvPr id="13" name="Shape 10"/>
          <p:cNvSpPr/>
          <p:nvPr/>
        </p:nvSpPr>
        <p:spPr>
          <a:xfrm>
            <a:off x="7905155" y="7080845"/>
            <a:ext cx="3618715" cy="517525"/>
          </a:xfrm>
          <a:custGeom>
            <a:avLst/>
            <a:gdLst/>
            <a:ahLst/>
            <a:cxnLst/>
            <a:rect l="l" t="t" r="r" b="b"/>
            <a:pathLst>
              <a:path w="3618715" h="517525">
                <a:moveTo>
                  <a:pt x="0" y="0"/>
                </a:moveTo>
                <a:lnTo>
                  <a:pt x="3589771" y="0"/>
                </a:lnTo>
                <a:arcTo hR="28944" wR="28943" stAng="16200000" swAng="5400000"/>
                <a:lnTo>
                  <a:pt x="3618715" y="488581"/>
                </a:lnTo>
                <a:arcTo hR="28944" wR="28943" stAng="0" swAng="5400000"/>
                <a:lnTo>
                  <a:pt x="0" y="517525"/>
                </a:lnTo>
                <a:lnTo>
                  <a:pt x="0" y="0"/>
                </a:lnTo>
                <a:close/>
              </a:path>
            </a:pathLst>
          </a:custGeom>
          <a:solidFill>
            <a:srgbClr val="FFFFFF"/>
          </a:solidFill>
          <a:ln/>
        </p:spPr>
      </p:sp>
      <p:sp>
        <p:nvSpPr>
          <p:cNvPr id="14" name="Shape 11"/>
          <p:cNvSpPr/>
          <p:nvPr/>
        </p:nvSpPr>
        <p:spPr>
          <a:xfrm>
            <a:off x="7905155" y="7080845"/>
            <a:ext cx="12700" cy="517525"/>
          </a:xfrm>
          <a:prstGeom prst="roundRect">
            <a:avLst>
              <a:gd name="adj" fmla="val 49999"/>
            </a:avLst>
          </a:prstGeom>
          <a:solidFill>
            <a:srgbClr val="F8ECD3"/>
          </a:solidFill>
          <a:ln/>
        </p:spPr>
      </p:sp>
      <p:sp>
        <p:nvSpPr>
          <p:cNvPr id="15" name="Text 12"/>
          <p:cNvSpPr/>
          <p:nvPr/>
        </p:nvSpPr>
        <p:spPr>
          <a:xfrm>
            <a:off x="7987803" y="7163495"/>
            <a:ext cx="3453421" cy="129183"/>
          </a:xfrm>
          <a:prstGeom prst="rect">
            <a:avLst/>
          </a:prstGeom>
          <a:noFill/>
          <a:ln/>
        </p:spPr>
        <p:txBody>
          <a:bodyPr wrap="none" lIns="0" tIns="0" rIns="0" bIns="0" rtlCol="0" anchor="t"/>
          <a:lstStyle/>
          <a:p>
            <a:pPr algn="l" indent="0" marL="0">
              <a:lnSpc>
                <a:spcPct val="104000"/>
              </a:lnSpc>
              <a:buNone/>
            </a:pPr>
            <a:r>
              <a:rPr lang="en-US" sz="80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800" dirty="0">
                <a:solidFill>
                  <a:srgbClr val="2C2926"/>
                </a:solidFill>
                <a:latin typeface="Bricolage Grotesque SemiBold" pitchFamily="34" charset="0"/>
                <a:ea typeface="Bricolage Grotesque SemiBold" pitchFamily="34" charset="-122"/>
                <a:cs typeface="Bricolage Grotesque SemiBold" pitchFamily="34" charset="-120"/>
              </a:rPr>
              <a:t> Nhật Bản — 62,3% TV Show</a:t>
            </a:r>
            <a:endParaRPr lang="en-US" sz="800" dirty="0"/>
          </a:p>
        </p:txBody>
      </p:sp>
      <p:sp>
        <p:nvSpPr>
          <p:cNvPr id="16" name="Text 13"/>
          <p:cNvSpPr/>
          <p:nvPr/>
        </p:nvSpPr>
        <p:spPr>
          <a:xfrm>
            <a:off x="7987803" y="7317482"/>
            <a:ext cx="3453421" cy="198239"/>
          </a:xfrm>
          <a:prstGeom prst="rect">
            <a:avLst/>
          </a:prstGeom>
          <a:noFill/>
          <a:ln/>
        </p:spPr>
        <p:txBody>
          <a:bodyPr wrap="square" lIns="0" tIns="0" rIns="0" bIns="0" rtlCol="0" anchor="t">
            <a:normAutofit/>
          </a:bodyPr>
          <a:lstStyle/>
          <a:p>
            <a:pPr algn="l" indent="0" marL="0">
              <a:lnSpc>
                <a:spcPct val="100000"/>
              </a:lnSpc>
              <a:buNone/>
            </a:pPr>
            <a:r>
              <a:rPr lang="en-US" sz="650" dirty="0">
                <a:solidFill>
                  <a:srgbClr val="2C2926"/>
                </a:solidFill>
                <a:latin typeface="Inter" pitchFamily="34" charset="0"/>
                <a:ea typeface="Inter" pitchFamily="34" charset="-122"/>
                <a:cs typeface="Inter" pitchFamily="34" charset="-120"/>
              </a:rPr>
              <a:t>Anime theo cơ chế phát hành theo mùa (seasonal release) tạo thói quen xem đều đặn cho người dùng.</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491034"/>
            <a:ext cx="10868745" cy="492621"/>
          </a:xfrm>
          <a:prstGeom prst="rect">
            <a:avLst/>
          </a:prstGeom>
          <a:noFill/>
          <a:ln/>
        </p:spPr>
        <p:txBody>
          <a:bodyPr wrap="none" lIns="0" tIns="0" rIns="0" bIns="0" rtlCol="0" anchor="t"/>
          <a:lstStyle/>
          <a:p>
            <a:pPr algn="l" indent="0" marL="0">
              <a:lnSpc>
                <a:spcPct val="104000"/>
              </a:lnSpc>
              <a:buNone/>
            </a:pPr>
            <a:r>
              <a:rPr lang="en-US" sz="3100" dirty="0">
                <a:solidFill>
                  <a:srgbClr val="2C2926"/>
                </a:solidFill>
                <a:latin typeface="Bricolage Grotesque SemiBold" pitchFamily="34" charset="0"/>
                <a:ea typeface="Bricolage Grotesque SemiBold" pitchFamily="34" charset="-122"/>
                <a:cs typeface="Bricolage Grotesque SemiBold" pitchFamily="34" charset="-120"/>
              </a:rPr>
              <a:t>Tính Mùa vụ &amp; Độ trễ Phát hành</a:t>
            </a:r>
            <a:endParaRPr lang="en-US" sz="3100" dirty="0"/>
          </a:p>
        </p:txBody>
      </p:sp>
      <p:sp>
        <p:nvSpPr>
          <p:cNvPr id="3" name="Text 1"/>
          <p:cNvSpPr/>
          <p:nvPr/>
        </p:nvSpPr>
        <p:spPr>
          <a:xfrm>
            <a:off x="661475" y="1359198"/>
            <a:ext cx="6367402" cy="246261"/>
          </a:xfrm>
          <a:prstGeom prst="rect">
            <a:avLst/>
          </a:prstGeom>
          <a:noFill/>
          <a:ln/>
        </p:spPr>
        <p:txBody>
          <a:bodyPr wrap="none" lIns="0" tIns="0" rIns="0" bIns="0" rtlCol="0" anchor="t"/>
          <a:lstStyle/>
          <a:p>
            <a:pPr algn="l" indent="0" marL="0">
              <a:lnSpc>
                <a:spcPct val="104000"/>
              </a:lnSpc>
              <a:buNone/>
            </a:pPr>
            <a:r>
              <a:rPr lang="en-US" sz="1550" dirty="0">
                <a:solidFill>
                  <a:srgbClr val="2C2926"/>
                </a:solidFill>
                <a:latin typeface="Bricolage Grotesque SemiBold" pitchFamily="34" charset="0"/>
                <a:ea typeface="Bricolage Grotesque SemiBold" pitchFamily="34" charset="-122"/>
                <a:cs typeface="Bricolage Grotesque SemiBold" pitchFamily="34" charset="-120"/>
              </a:rPr>
              <a:t>Xu hướng bổ sung nội dung theo tháng</a:t>
            </a:r>
            <a:endParaRPr lang="en-US" sz="1550" dirty="0"/>
          </a:p>
        </p:txBody>
      </p:sp>
      <p:pic>
        <p:nvPicPr>
          <p:cNvPr id="4" name="Image 0" descr="preencoded.png">    </p:cNvPr>
          <p:cNvPicPr>
            <a:picLocks noChangeAspect="1"/>
          </p:cNvPicPr>
          <p:nvPr/>
        </p:nvPicPr>
        <p:blipFill>
          <a:blip r:embed="rId1"/>
          <a:stretch>
            <a:fillRect/>
          </a:stretch>
        </p:blipFill>
        <p:spPr>
          <a:xfrm>
            <a:off x="661475" y="1774428"/>
            <a:ext cx="6367402" cy="4184055"/>
          </a:xfrm>
          <a:prstGeom prst="rect">
            <a:avLst/>
          </a:prstGeom>
        </p:spPr>
      </p:pic>
      <p:sp>
        <p:nvSpPr>
          <p:cNvPr id="5" name="Text 2"/>
          <p:cNvSpPr/>
          <p:nvPr/>
        </p:nvSpPr>
        <p:spPr>
          <a:xfrm>
            <a:off x="7419789" y="1359198"/>
            <a:ext cx="4116681" cy="246261"/>
          </a:xfrm>
          <a:prstGeom prst="rect">
            <a:avLst/>
          </a:prstGeom>
          <a:noFill/>
          <a:ln/>
        </p:spPr>
        <p:txBody>
          <a:bodyPr wrap="none" lIns="0" tIns="0" rIns="0" bIns="0" rtlCol="0" anchor="t"/>
          <a:lstStyle/>
          <a:p>
            <a:pPr algn="l" indent="0" marL="0">
              <a:lnSpc>
                <a:spcPct val="104000"/>
              </a:lnSpc>
              <a:buNone/>
            </a:pPr>
            <a:r>
              <a:rPr lang="en-US" sz="1550" dirty="0">
                <a:solidFill>
                  <a:srgbClr val="2C2926"/>
                </a:solidFill>
                <a:latin typeface="Bricolage Grotesque SemiBold" pitchFamily="34" charset="0"/>
                <a:ea typeface="Bricolage Grotesque SemiBold" pitchFamily="34" charset="-122"/>
                <a:cs typeface="Bricolage Grotesque SemiBold" pitchFamily="34" charset="-120"/>
              </a:rPr>
              <a:t>Insight cốt lõi</a:t>
            </a:r>
            <a:endParaRPr lang="en-US" sz="1550" dirty="0"/>
          </a:p>
        </p:txBody>
      </p:sp>
      <p:sp>
        <p:nvSpPr>
          <p:cNvPr id="6" name="Text 3"/>
          <p:cNvSpPr/>
          <p:nvPr/>
        </p:nvSpPr>
        <p:spPr>
          <a:xfrm>
            <a:off x="7419789" y="1755676"/>
            <a:ext cx="4116681" cy="738783"/>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2C2926"/>
                </a:solidFill>
                <a:latin typeface="Inter" pitchFamily="34" charset="0"/>
                <a:ea typeface="Inter" pitchFamily="34" charset="-122"/>
                <a:cs typeface="Inter" pitchFamily="34" charset="-120"/>
              </a:rPr>
              <a:t>Lịch phát hành </a:t>
            </a:r>
            <a:pPr algn="l" indent="0" marL="0">
              <a:lnSpc>
                <a:spcPct val="130000"/>
              </a:lnSpc>
              <a:buNone/>
            </a:pPr>
            <a:r>
              <a:rPr lang="en-US" sz="1200" b="1" dirty="0">
                <a:solidFill>
                  <a:srgbClr val="2C2926"/>
                </a:solidFill>
                <a:latin typeface="Inter Bold" pitchFamily="34" charset="0"/>
                <a:ea typeface="Inter Bold" pitchFamily="34" charset="-122"/>
                <a:cs typeface="Inter Bold" pitchFamily="34" charset="-120"/>
              </a:rPr>
              <a:t>không ngẫu nhiên</a:t>
            </a:r>
            <a:pPr algn="l" indent="0" marL="0">
              <a:lnSpc>
                <a:spcPct val="130000"/>
              </a:lnSpc>
              <a:buNone/>
            </a:pPr>
            <a:r>
              <a:rPr lang="en-US" sz="1200" dirty="0">
                <a:solidFill>
                  <a:srgbClr val="2C2926"/>
                </a:solidFill>
                <a:latin typeface="Inter" pitchFamily="34" charset="0"/>
                <a:ea typeface="Inter" pitchFamily="34" charset="-122"/>
                <a:cs typeface="Inter" pitchFamily="34" charset="-120"/>
              </a:rPr>
              <a:t> — được tối ưu hóa để tối đa hóa lượt xem và giữ chân người dùng theo chu kỳ nghỉ lễ.</a:t>
            </a:r>
            <a:endParaRPr lang="en-US" sz="1200" dirty="0"/>
          </a:p>
        </p:txBody>
      </p:sp>
      <p:sp>
        <p:nvSpPr>
          <p:cNvPr id="7" name="Shape 4"/>
          <p:cNvSpPr/>
          <p:nvPr/>
        </p:nvSpPr>
        <p:spPr>
          <a:xfrm>
            <a:off x="7419789" y="2663428"/>
            <a:ext cx="4116681" cy="995958"/>
          </a:xfrm>
          <a:prstGeom prst="roundRect">
            <a:avLst>
              <a:gd name="adj" fmla="val 6648"/>
            </a:avLst>
          </a:prstGeom>
          <a:solidFill>
            <a:srgbClr val="FFFFFF">
              <a:alpha val="95000"/>
            </a:srgbClr>
          </a:solidFill>
          <a:ln w="19050">
            <a:solidFill>
              <a:srgbClr val="F8ECD3"/>
            </a:solidFill>
            <a:prstDash val="solid"/>
          </a:ln>
        </p:spPr>
      </p:sp>
      <p:sp>
        <p:nvSpPr>
          <p:cNvPr id="8" name="Text 5"/>
          <p:cNvSpPr/>
          <p:nvPr/>
        </p:nvSpPr>
        <p:spPr>
          <a:xfrm>
            <a:off x="7596394" y="2840038"/>
            <a:ext cx="3763471" cy="246261"/>
          </a:xfrm>
          <a:prstGeom prst="rect">
            <a:avLst/>
          </a:prstGeom>
          <a:noFill/>
          <a:ln/>
        </p:spPr>
        <p:txBody>
          <a:bodyPr wrap="none" lIns="0" tIns="0" rIns="0" bIns="0" rtlCol="0" anchor="t"/>
          <a:lstStyle/>
          <a:p>
            <a:pPr algn="l" indent="0" marL="0">
              <a:lnSpc>
                <a:spcPct val="104000"/>
              </a:lnSpc>
              <a:buNone/>
            </a:pPr>
            <a:r>
              <a:rPr lang="en-US" sz="1550" dirty="0">
                <a:solidFill>
                  <a:srgbClr val="E7BF6A"/>
                </a:solidFill>
                <a:latin typeface="Bricolage Grotesque SemiBold" pitchFamily="34" charset="0"/>
                <a:ea typeface="Bricolage Grotesque SemiBold" pitchFamily="34" charset="-122"/>
                <a:cs typeface="Bricolage Grotesque SemiBold" pitchFamily="34" charset="-120"/>
              </a:rPr>
              <a:t>827 phim</a:t>
            </a:r>
            <a:pPr algn="l" indent="0" marL="0">
              <a:lnSpc>
                <a:spcPct val="104000"/>
              </a:lnSpc>
              <a:buNone/>
            </a:pPr>
            <a:r>
              <a:rPr lang="en-US" sz="1550" dirty="0">
                <a:solidFill>
                  <a:srgbClr val="2C2926"/>
                </a:solidFill>
                <a:latin typeface="Bricolage Grotesque SemiBold" pitchFamily="34" charset="0"/>
                <a:ea typeface="Bricolage Grotesque SemiBold" pitchFamily="34" charset="-122"/>
                <a:cs typeface="Bricolage Grotesque SemiBold" pitchFamily="34" charset="-120"/>
              </a:rPr>
              <a:t> — Tháng 7</a:t>
            </a:r>
            <a:endParaRPr lang="en-US" sz="1550" dirty="0"/>
          </a:p>
        </p:txBody>
      </p:sp>
      <p:sp>
        <p:nvSpPr>
          <p:cNvPr id="9" name="Text 6"/>
          <p:cNvSpPr/>
          <p:nvPr/>
        </p:nvSpPr>
        <p:spPr>
          <a:xfrm>
            <a:off x="7596394" y="3236516"/>
            <a:ext cx="3763471" cy="246261"/>
          </a:xfrm>
          <a:prstGeom prst="rect">
            <a:avLst/>
          </a:prstGeom>
          <a:noFill/>
          <a:ln/>
        </p:spPr>
        <p:txBody>
          <a:bodyPr wrap="none" lIns="0" tIns="0" rIns="0" bIns="0" rtlCol="0" anchor="t"/>
          <a:lstStyle/>
          <a:p>
            <a:pPr algn="l" indent="0" marL="0">
              <a:lnSpc>
                <a:spcPct val="130000"/>
              </a:lnSpc>
              <a:buNone/>
            </a:pPr>
            <a:r>
              <a:rPr lang="en-US" sz="1200" dirty="0">
                <a:solidFill>
                  <a:srgbClr val="2C2926"/>
                </a:solidFill>
                <a:latin typeface="Inter" pitchFamily="34" charset="0"/>
                <a:ea typeface="Inter" pitchFamily="34" charset="-122"/>
                <a:cs typeface="Inter" pitchFamily="34" charset="-120"/>
              </a:rPr>
              <a:t>Đỉnh cao mùa hè, kỳ nghỉ học sinh sinh viên</a:t>
            </a:r>
            <a:endParaRPr lang="en-US" sz="1200" dirty="0"/>
          </a:p>
        </p:txBody>
      </p:sp>
      <p:sp>
        <p:nvSpPr>
          <p:cNvPr id="10" name="Shape 7"/>
          <p:cNvSpPr/>
          <p:nvPr/>
        </p:nvSpPr>
        <p:spPr>
          <a:xfrm>
            <a:off x="7419789" y="3809603"/>
            <a:ext cx="4116681" cy="995958"/>
          </a:xfrm>
          <a:prstGeom prst="roundRect">
            <a:avLst>
              <a:gd name="adj" fmla="val 6648"/>
            </a:avLst>
          </a:prstGeom>
          <a:solidFill>
            <a:srgbClr val="FFFFFF">
              <a:alpha val="95000"/>
            </a:srgbClr>
          </a:solidFill>
          <a:ln w="19050">
            <a:solidFill>
              <a:srgbClr val="F8ECD3"/>
            </a:solidFill>
            <a:prstDash val="solid"/>
          </a:ln>
        </p:spPr>
      </p:sp>
      <p:sp>
        <p:nvSpPr>
          <p:cNvPr id="11" name="Text 8"/>
          <p:cNvSpPr/>
          <p:nvPr/>
        </p:nvSpPr>
        <p:spPr>
          <a:xfrm>
            <a:off x="7596394" y="3986213"/>
            <a:ext cx="3763471" cy="246261"/>
          </a:xfrm>
          <a:prstGeom prst="rect">
            <a:avLst/>
          </a:prstGeom>
          <a:noFill/>
          <a:ln/>
        </p:spPr>
        <p:txBody>
          <a:bodyPr wrap="none" lIns="0" tIns="0" rIns="0" bIns="0" rtlCol="0" anchor="t"/>
          <a:lstStyle/>
          <a:p>
            <a:pPr algn="l" indent="0" marL="0">
              <a:lnSpc>
                <a:spcPct val="104000"/>
              </a:lnSpc>
              <a:buNone/>
            </a:pPr>
            <a:r>
              <a:rPr lang="en-US" sz="1550" dirty="0">
                <a:solidFill>
                  <a:srgbClr val="E7BF6A"/>
                </a:solidFill>
                <a:latin typeface="Bricolage Grotesque SemiBold" pitchFamily="34" charset="0"/>
                <a:ea typeface="Bricolage Grotesque SemiBold" pitchFamily="34" charset="-122"/>
                <a:cs typeface="Bricolage Grotesque SemiBold" pitchFamily="34" charset="-120"/>
              </a:rPr>
              <a:t>812 phim</a:t>
            </a:r>
            <a:pPr algn="l" indent="0" marL="0">
              <a:lnSpc>
                <a:spcPct val="104000"/>
              </a:lnSpc>
              <a:buNone/>
            </a:pPr>
            <a:r>
              <a:rPr lang="en-US" sz="1550" dirty="0">
                <a:solidFill>
                  <a:srgbClr val="2C2926"/>
                </a:solidFill>
                <a:latin typeface="Bricolage Grotesque SemiBold" pitchFamily="34" charset="0"/>
                <a:ea typeface="Bricolage Grotesque SemiBold" pitchFamily="34" charset="-122"/>
                <a:cs typeface="Bricolage Grotesque SemiBold" pitchFamily="34" charset="-120"/>
              </a:rPr>
              <a:t> — Tháng 12</a:t>
            </a:r>
            <a:endParaRPr lang="en-US" sz="1550" dirty="0"/>
          </a:p>
        </p:txBody>
      </p:sp>
      <p:sp>
        <p:nvSpPr>
          <p:cNvPr id="12" name="Text 9"/>
          <p:cNvSpPr/>
          <p:nvPr/>
        </p:nvSpPr>
        <p:spPr>
          <a:xfrm>
            <a:off x="7596394" y="4382691"/>
            <a:ext cx="3763471" cy="246261"/>
          </a:xfrm>
          <a:prstGeom prst="rect">
            <a:avLst/>
          </a:prstGeom>
          <a:noFill/>
          <a:ln/>
        </p:spPr>
        <p:txBody>
          <a:bodyPr wrap="none" lIns="0" tIns="0" rIns="0" bIns="0" rtlCol="0" anchor="t"/>
          <a:lstStyle/>
          <a:p>
            <a:pPr algn="l" indent="0" marL="0">
              <a:lnSpc>
                <a:spcPct val="130000"/>
              </a:lnSpc>
              <a:buNone/>
            </a:pPr>
            <a:r>
              <a:rPr lang="en-US" sz="1200" dirty="0">
                <a:solidFill>
                  <a:srgbClr val="2C2926"/>
                </a:solidFill>
                <a:latin typeface="Inter" pitchFamily="34" charset="0"/>
                <a:ea typeface="Inter" pitchFamily="34" charset="-122"/>
                <a:cs typeface="Inter" pitchFamily="34" charset="-120"/>
              </a:rPr>
              <a:t>Giáng sinh và kỳ nghỉ cuối năm</a:t>
            </a:r>
            <a:endParaRPr lang="en-US" sz="1200" dirty="0"/>
          </a:p>
        </p:txBody>
      </p:sp>
      <p:sp>
        <p:nvSpPr>
          <p:cNvPr id="13" name="Shape 10"/>
          <p:cNvSpPr/>
          <p:nvPr/>
        </p:nvSpPr>
        <p:spPr>
          <a:xfrm>
            <a:off x="7419789" y="4955778"/>
            <a:ext cx="4116681" cy="1242219"/>
          </a:xfrm>
          <a:prstGeom prst="roundRect">
            <a:avLst>
              <a:gd name="adj" fmla="val 5330"/>
            </a:avLst>
          </a:prstGeom>
          <a:solidFill>
            <a:srgbClr val="FFFFFF">
              <a:alpha val="95000"/>
            </a:srgbClr>
          </a:solidFill>
          <a:ln w="19050">
            <a:solidFill>
              <a:srgbClr val="F8ECD3"/>
            </a:solidFill>
            <a:prstDash val="solid"/>
          </a:ln>
        </p:spPr>
      </p:sp>
      <p:sp>
        <p:nvSpPr>
          <p:cNvPr id="14" name="Text 11"/>
          <p:cNvSpPr/>
          <p:nvPr/>
        </p:nvSpPr>
        <p:spPr>
          <a:xfrm>
            <a:off x="7596394" y="5132388"/>
            <a:ext cx="3763471" cy="246261"/>
          </a:xfrm>
          <a:prstGeom prst="rect">
            <a:avLst/>
          </a:prstGeom>
          <a:noFill/>
          <a:ln/>
        </p:spPr>
        <p:txBody>
          <a:bodyPr wrap="none" lIns="0" tIns="0" rIns="0" bIns="0" rtlCol="0" anchor="t"/>
          <a:lstStyle/>
          <a:p>
            <a:pPr algn="l" indent="0" marL="0">
              <a:lnSpc>
                <a:spcPct val="104000"/>
              </a:lnSpc>
              <a:buNone/>
            </a:pPr>
            <a:r>
              <a:rPr lang="en-US" sz="1550" dirty="0">
                <a:solidFill>
                  <a:srgbClr val="E7BF6A"/>
                </a:solidFill>
                <a:latin typeface="Bricolage Grotesque SemiBold" pitchFamily="34" charset="0"/>
                <a:ea typeface="Bricolage Grotesque SemiBold" pitchFamily="34" charset="-122"/>
                <a:cs typeface="Bricolage Grotesque SemiBold" pitchFamily="34" charset="-120"/>
              </a:rPr>
              <a:t>55%</a:t>
            </a:r>
            <a:pPr algn="l" indent="0" marL="0">
              <a:lnSpc>
                <a:spcPct val="104000"/>
              </a:lnSpc>
              <a:buNone/>
            </a:pPr>
            <a:r>
              <a:rPr lang="en-US" sz="1550" dirty="0">
                <a:solidFill>
                  <a:srgbClr val="2C2926"/>
                </a:solidFill>
                <a:latin typeface="Bricolage Grotesque SemiBold" pitchFamily="34" charset="0"/>
                <a:ea typeface="Bricolage Grotesque SemiBold" pitchFamily="34" charset="-122"/>
                <a:cs typeface="Bricolage Grotesque SemiBold" pitchFamily="34" charset="-120"/>
              </a:rPr>
              <a:t> nội dung mới</a:t>
            </a:r>
            <a:endParaRPr lang="en-US" sz="1550" dirty="0"/>
          </a:p>
        </p:txBody>
      </p:sp>
      <p:sp>
        <p:nvSpPr>
          <p:cNvPr id="15" name="Text 12"/>
          <p:cNvSpPr/>
          <p:nvPr/>
        </p:nvSpPr>
        <p:spPr>
          <a:xfrm>
            <a:off x="7596394" y="5528866"/>
            <a:ext cx="3763471" cy="492522"/>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2C2926"/>
                </a:solidFill>
                <a:latin typeface="Inter" pitchFamily="34" charset="0"/>
                <a:ea typeface="Inter" pitchFamily="34" charset="-122"/>
                <a:cs typeface="Inter" pitchFamily="34" charset="-120"/>
              </a:rPr>
              <a:t>Được đưa lên nền tảng trong vòng &lt;1 năm kể từ sản xuất — Netflix ưu tiên nội dung tươi mới</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454819"/>
            <a:ext cx="10868745" cy="258465"/>
          </a:xfrm>
          <a:prstGeom prst="rect">
            <a:avLst/>
          </a:prstGeom>
          <a:noFill/>
          <a:ln/>
        </p:spPr>
        <p:txBody>
          <a:bodyPr wrap="none" lIns="0" tIns="0" rIns="0" bIns="0" rtlCol="0" anchor="t"/>
          <a:lstStyle/>
          <a:p>
            <a:pPr algn="l" indent="0" marL="0">
              <a:lnSpc>
                <a:spcPct val="104000"/>
              </a:lnSpc>
              <a:buNone/>
            </a:pPr>
            <a:r>
              <a:rPr lang="en-US" sz="1600" dirty="0">
                <a:solidFill>
                  <a:srgbClr val="2C2926"/>
                </a:solidFill>
                <a:latin typeface="Bricolage Grotesque SemiBold" pitchFamily="34" charset="0"/>
                <a:ea typeface="Bricolage Grotesque SemiBold" pitchFamily="34" charset="-122"/>
                <a:cs typeface="Bricolage Grotesque SemiBold" pitchFamily="34" charset="-120"/>
              </a:rPr>
              <a:t>Power BI Dashboard: Công cụ Quản trị Danh mục</a:t>
            </a:r>
            <a:endParaRPr lang="en-US" sz="1600" dirty="0"/>
          </a:p>
        </p:txBody>
      </p:sp>
      <p:pic>
        <p:nvPicPr>
          <p:cNvPr id="3" name="Image 0" descr="preencoded.png">    </p:cNvPr>
          <p:cNvPicPr>
            <a:picLocks noChangeAspect="1"/>
          </p:cNvPicPr>
          <p:nvPr/>
        </p:nvPicPr>
        <p:blipFill>
          <a:blip r:embed="rId1"/>
          <a:stretch>
            <a:fillRect/>
          </a:stretch>
        </p:blipFill>
        <p:spPr>
          <a:xfrm>
            <a:off x="661475" y="795933"/>
            <a:ext cx="10868745" cy="6064845"/>
          </a:xfrm>
          <a:prstGeom prst="rect">
            <a:avLst/>
          </a:prstGeom>
        </p:spPr>
      </p:pic>
      <p:sp>
        <p:nvSpPr>
          <p:cNvPr id="4" name="Text 1"/>
          <p:cNvSpPr/>
          <p:nvPr/>
        </p:nvSpPr>
        <p:spPr>
          <a:xfrm>
            <a:off x="661475" y="6948488"/>
            <a:ext cx="5333569" cy="129183"/>
          </a:xfrm>
          <a:prstGeom prst="rect">
            <a:avLst/>
          </a:prstGeom>
          <a:noFill/>
          <a:ln/>
        </p:spPr>
        <p:txBody>
          <a:bodyPr wrap="none" lIns="0" tIns="0" rIns="0" bIns="0" rtlCol="0" anchor="t"/>
          <a:lstStyle/>
          <a:p>
            <a:pPr algn="l" indent="0" marL="0">
              <a:lnSpc>
                <a:spcPct val="104000"/>
              </a:lnSpc>
              <a:buNone/>
            </a:pPr>
            <a:r>
              <a:rPr lang="en-US" sz="800" dirty="0">
                <a:solidFill>
                  <a:srgbClr val="2C2926"/>
                </a:solidFill>
                <a:latin typeface="Bricolage Grotesque SemiBold" pitchFamily="34" charset="0"/>
                <a:ea typeface="Bricolage Grotesque SemiBold" pitchFamily="34" charset="-122"/>
                <a:cs typeface="Bricolage Grotesque SemiBold" pitchFamily="34" charset="-120"/>
              </a:rPr>
              <a:t>Mục đích</a:t>
            </a:r>
            <a:endParaRPr lang="en-US" sz="800" dirty="0"/>
          </a:p>
        </p:txBody>
      </p:sp>
      <p:sp>
        <p:nvSpPr>
          <p:cNvPr id="5" name="Text 2"/>
          <p:cNvSpPr/>
          <p:nvPr/>
        </p:nvSpPr>
        <p:spPr>
          <a:xfrm>
            <a:off x="661475" y="7118945"/>
            <a:ext cx="5943154" cy="99120"/>
          </a:xfrm>
          <a:prstGeom prst="rect">
            <a:avLst/>
          </a:prstGeom>
          <a:noFill/>
          <a:ln/>
        </p:spPr>
        <p:txBody>
          <a:bodyPr wrap="none" lIns="0" tIns="0" rIns="0" bIns="0" rtlCol="0" anchor="t"/>
          <a:lstStyle/>
          <a:p>
            <a:pPr algn="l" indent="0" marL="0">
              <a:lnSpc>
                <a:spcPct val="100000"/>
              </a:lnSpc>
              <a:buNone/>
            </a:pPr>
            <a:r>
              <a:rPr lang="en-US" sz="650" dirty="0">
                <a:solidFill>
                  <a:srgbClr val="2C2926"/>
                </a:solidFill>
                <a:latin typeface="Inter" pitchFamily="34" charset="0"/>
                <a:ea typeface="Inter" pitchFamily="34" charset="-122"/>
                <a:cs typeface="Inter" pitchFamily="34" charset="-120"/>
              </a:rPr>
              <a:t>Công cụ theo dõi danh mục dành cho </a:t>
            </a:r>
            <a:pPr algn="l" indent="0" marL="0">
              <a:lnSpc>
                <a:spcPct val="100000"/>
              </a:lnSpc>
              <a:buNone/>
            </a:pPr>
            <a:r>
              <a:rPr lang="en-US" sz="650" b="1" dirty="0">
                <a:solidFill>
                  <a:srgbClr val="2C2926"/>
                </a:solidFill>
                <a:latin typeface="Inter Bold" pitchFamily="34" charset="0"/>
                <a:ea typeface="Inter Bold" pitchFamily="34" charset="-122"/>
                <a:cs typeface="Inter Bold" pitchFamily="34" charset="-120"/>
              </a:rPr>
              <a:t>cấp quản lý</a:t>
            </a:r>
            <a:pPr algn="l" indent="0" marL="0">
              <a:lnSpc>
                <a:spcPct val="100000"/>
              </a:lnSpc>
              <a:buNone/>
            </a:pPr>
            <a:r>
              <a:rPr lang="en-US" sz="650" dirty="0">
                <a:solidFill>
                  <a:srgbClr val="2C2926"/>
                </a:solidFill>
                <a:latin typeface="Inter" pitchFamily="34" charset="0"/>
                <a:ea typeface="Inter" pitchFamily="34" charset="-122"/>
                <a:cs typeface="Inter" pitchFamily="34" charset="-120"/>
              </a:rPr>
              <a:t>, hỗ trợ quyết định chiến lược nội dung và giảm thiểu thời gian báo cáo thủ công.</a:t>
            </a:r>
            <a:endParaRPr lang="en-US" sz="650" dirty="0"/>
          </a:p>
        </p:txBody>
      </p:sp>
      <p:sp>
        <p:nvSpPr>
          <p:cNvPr id="6" name="Text 3"/>
          <p:cNvSpPr/>
          <p:nvPr/>
        </p:nvSpPr>
        <p:spPr>
          <a:xfrm>
            <a:off x="661475" y="7259340"/>
            <a:ext cx="5333569" cy="129183"/>
          </a:xfrm>
          <a:prstGeom prst="rect">
            <a:avLst/>
          </a:prstGeom>
          <a:noFill/>
          <a:ln/>
        </p:spPr>
        <p:txBody>
          <a:bodyPr wrap="none" lIns="0" tIns="0" rIns="0" bIns="0" rtlCol="0" anchor="t"/>
          <a:lstStyle/>
          <a:p>
            <a:pPr algn="l" indent="0" marL="0">
              <a:lnSpc>
                <a:spcPct val="104000"/>
              </a:lnSpc>
              <a:buNone/>
            </a:pPr>
            <a:r>
              <a:rPr lang="en-US" sz="800" dirty="0">
                <a:solidFill>
                  <a:srgbClr val="2C2926"/>
                </a:solidFill>
                <a:latin typeface="Bricolage Grotesque SemiBold" pitchFamily="34" charset="0"/>
                <a:ea typeface="Bricolage Grotesque SemiBold" pitchFamily="34" charset="-122"/>
                <a:cs typeface="Bricolage Grotesque SemiBold" pitchFamily="34" charset="-120"/>
              </a:rPr>
              <a:t>Tính năng chính</a:t>
            </a:r>
            <a:endParaRPr lang="en-US" sz="800" dirty="0"/>
          </a:p>
        </p:txBody>
      </p:sp>
      <p:sp>
        <p:nvSpPr>
          <p:cNvPr id="7" name="Text 4"/>
          <p:cNvSpPr/>
          <p:nvPr/>
        </p:nvSpPr>
        <p:spPr>
          <a:xfrm>
            <a:off x="661475" y="7429798"/>
            <a:ext cx="5333569" cy="326132"/>
          </a:xfrm>
          <a:prstGeom prst="rect">
            <a:avLst/>
          </a:prstGeom>
          <a:noFill/>
          <a:ln/>
        </p:spPr>
        <p:txBody>
          <a:bodyPr wrap="square" lIns="0" tIns="0" rIns="0" bIns="0" rtlCol="0" anchor="t">
            <a:normAutofit/>
          </a:bodyPr>
          <a:lstStyle/>
          <a:p>
            <a:pPr algn="l" marL="132080" indent="-132080">
              <a:lnSpc>
                <a:spcPct val="100000"/>
              </a:lnSpc>
              <a:buSzPct val="100000"/>
              <a:buChar char="•"/>
            </a:pPr>
            <a:r>
              <a:rPr lang="en-US" sz="650" dirty="0">
                <a:solidFill>
                  <a:srgbClr val="2C2926"/>
                </a:solidFill>
                <a:latin typeface="Inter" pitchFamily="34" charset="0"/>
                <a:ea typeface="Inter" pitchFamily="34" charset="-122"/>
                <a:cs typeface="Inter" pitchFamily="34" charset="-120"/>
              </a:rPr>
              <a:t>Theo dõi tự động các thẻ KPI: Tổng số phim (</a:t>
            </a:r>
            <a:pPr algn="l" marL="132080" indent="-132080">
              <a:lnSpc>
                <a:spcPct val="100000"/>
              </a:lnSpc>
              <a:buSzPct val="100000"/>
              <a:buChar char="•"/>
            </a:pPr>
            <a:r>
              <a:rPr lang="en-US" sz="650" b="1" dirty="0">
                <a:solidFill>
                  <a:srgbClr val="2C2926"/>
                </a:solidFill>
                <a:latin typeface="Inter Bold" pitchFamily="34" charset="0"/>
                <a:ea typeface="Inter Bold" pitchFamily="34" charset="-122"/>
                <a:cs typeface="Inter Bold" pitchFamily="34" charset="-120"/>
              </a:rPr>
              <a:t>8.789</a:t>
            </a:r>
            <a:pPr algn="l" marL="132080" indent="-132080">
              <a:lnSpc>
                <a:spcPct val="100000"/>
              </a:lnSpc>
              <a:buSzPct val="100000"/>
              <a:buChar char="•"/>
            </a:pPr>
            <a:r>
              <a:rPr lang="en-US" sz="650" dirty="0">
                <a:solidFill>
                  <a:srgbClr val="2C2926"/>
                </a:solidFill>
                <a:latin typeface="Inter" pitchFamily="34" charset="0"/>
                <a:ea typeface="Inter" pitchFamily="34" charset="-122"/>
                <a:cs typeface="Inter" pitchFamily="34" charset="-120"/>
              </a:rPr>
              <a:t>), phân bổ theo quốc gia, tỷ lệ Movie/TV Show</a:t>
            </a:r>
            <a:endParaRPr lang="en-US" sz="650" dirty="0"/>
          </a:p>
          <a:p>
            <a:pPr algn="l" marL="132080" indent="-132080">
              <a:lnSpc>
                <a:spcPct val="100000"/>
              </a:lnSpc>
              <a:buSzPct val="100000"/>
              <a:buChar char="•"/>
            </a:pPr>
            <a:r>
              <a:rPr lang="en-US" sz="650" dirty="0">
                <a:solidFill>
                  <a:srgbClr val="2C2926"/>
                </a:solidFill>
                <a:latin typeface="Inter" pitchFamily="34" charset="0"/>
                <a:ea typeface="Inter" pitchFamily="34" charset="-122"/>
                <a:cs typeface="Inter" pitchFamily="34" charset="-120"/>
              </a:rPr>
              <a:t>Lọc động (Cross-filtering) theo Năm phát hành, Loại hình (Movie/TV Show), Quốc gia</a:t>
            </a:r>
            <a:endParaRPr lang="en-US" sz="650" dirty="0"/>
          </a:p>
          <a:p>
            <a:pPr algn="l" marL="132080" indent="-132080">
              <a:lnSpc>
                <a:spcPct val="100000"/>
              </a:lnSpc>
              <a:buSzPct val="100000"/>
              <a:buChar char="•"/>
            </a:pPr>
            <a:r>
              <a:rPr lang="en-US" sz="650" dirty="0">
                <a:solidFill>
                  <a:srgbClr val="2C2926"/>
                </a:solidFill>
                <a:latin typeface="Inter" pitchFamily="34" charset="0"/>
                <a:ea typeface="Inter" pitchFamily="34" charset="-122"/>
                <a:cs typeface="Inter" pitchFamily="34" charset="-120"/>
              </a:rPr>
              <a:t>Biểu đồ tương tác: Xu hướng theo thời gian, phân bổ địa lý, phân tích mùa vụ, phân bổ rating</a:t>
            </a:r>
            <a:endParaRPr lang="en-US" sz="650" dirty="0"/>
          </a:p>
        </p:txBody>
      </p:sp>
      <p:sp>
        <p:nvSpPr>
          <p:cNvPr id="8" name="Text 5"/>
          <p:cNvSpPr/>
          <p:nvPr/>
        </p:nvSpPr>
        <p:spPr>
          <a:xfrm>
            <a:off x="6203001" y="6948488"/>
            <a:ext cx="5333569" cy="129183"/>
          </a:xfrm>
          <a:prstGeom prst="rect">
            <a:avLst/>
          </a:prstGeom>
          <a:noFill/>
          <a:ln/>
        </p:spPr>
        <p:txBody>
          <a:bodyPr wrap="none" lIns="0" tIns="0" rIns="0" bIns="0" rtlCol="0" anchor="t"/>
          <a:lstStyle/>
          <a:p>
            <a:pPr algn="l" indent="0" marL="0">
              <a:lnSpc>
                <a:spcPct val="104000"/>
              </a:lnSpc>
              <a:buNone/>
            </a:pPr>
            <a:r>
              <a:rPr lang="en-US" sz="800" dirty="0">
                <a:solidFill>
                  <a:srgbClr val="2C2926"/>
                </a:solidFill>
                <a:latin typeface="Bricolage Grotesque SemiBold" pitchFamily="34" charset="0"/>
                <a:ea typeface="Bricolage Grotesque SemiBold" pitchFamily="34" charset="-122"/>
                <a:cs typeface="Bricolage Grotesque SemiBold" pitchFamily="34" charset="-120"/>
              </a:rPr>
              <a:t>Lợi ích vận hành</a:t>
            </a:r>
            <a:endParaRPr lang="en-US" sz="800" dirty="0"/>
          </a:p>
        </p:txBody>
      </p:sp>
      <p:pic>
        <p:nvPicPr>
          <p:cNvPr id="9"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03001" y="7124105"/>
            <a:ext cx="165294" cy="165298"/>
          </a:xfrm>
          <a:prstGeom prst="rect">
            <a:avLst/>
          </a:prstGeom>
        </p:spPr>
      </p:pic>
      <p:sp>
        <p:nvSpPr>
          <p:cNvPr id="10" name="Text 6"/>
          <p:cNvSpPr/>
          <p:nvPr/>
        </p:nvSpPr>
        <p:spPr>
          <a:xfrm>
            <a:off x="6419888" y="7152481"/>
            <a:ext cx="5116682" cy="129183"/>
          </a:xfrm>
          <a:prstGeom prst="rect">
            <a:avLst/>
          </a:prstGeom>
          <a:noFill/>
          <a:ln/>
        </p:spPr>
        <p:txBody>
          <a:bodyPr wrap="none" lIns="0" tIns="0" rIns="0" bIns="0" rtlCol="0" anchor="t"/>
          <a:lstStyle/>
          <a:p>
            <a:pPr algn="l" indent="0" marL="0">
              <a:lnSpc>
                <a:spcPct val="104000"/>
              </a:lnSpc>
              <a:buNone/>
            </a:pPr>
            <a:r>
              <a:rPr lang="en-US" sz="800" dirty="0">
                <a:solidFill>
                  <a:srgbClr val="2C2926"/>
                </a:solidFill>
                <a:latin typeface="Bricolage Grotesque SemiBold" pitchFamily="34" charset="0"/>
                <a:ea typeface="Bricolage Grotesque SemiBold" pitchFamily="34" charset="-122"/>
                <a:cs typeface="Bricolage Grotesque SemiBold" pitchFamily="34" charset="-120"/>
              </a:rPr>
              <a:t>Tiết kiệm thời gian</a:t>
            </a:r>
            <a:endParaRPr lang="en-US" sz="800" dirty="0"/>
          </a:p>
        </p:txBody>
      </p:sp>
      <p:sp>
        <p:nvSpPr>
          <p:cNvPr id="11" name="Text 7"/>
          <p:cNvSpPr/>
          <p:nvPr/>
        </p:nvSpPr>
        <p:spPr>
          <a:xfrm>
            <a:off x="6419888" y="7322939"/>
            <a:ext cx="5116682" cy="99120"/>
          </a:xfrm>
          <a:prstGeom prst="rect">
            <a:avLst/>
          </a:prstGeom>
          <a:noFill/>
          <a:ln/>
        </p:spPr>
        <p:txBody>
          <a:bodyPr wrap="none" lIns="0" tIns="0" rIns="0" bIns="0" rtlCol="0" anchor="t"/>
          <a:lstStyle/>
          <a:p>
            <a:pPr algn="l" indent="0" marL="0">
              <a:lnSpc>
                <a:spcPct val="100000"/>
              </a:lnSpc>
              <a:buNone/>
            </a:pPr>
            <a:r>
              <a:rPr lang="en-US" sz="650" dirty="0">
                <a:solidFill>
                  <a:srgbClr val="2C2926"/>
                </a:solidFill>
                <a:latin typeface="Inter" pitchFamily="34" charset="0"/>
                <a:ea typeface="Inter" pitchFamily="34" charset="-122"/>
                <a:cs typeface="Inter" pitchFamily="34" charset="-120"/>
              </a:rPr>
              <a:t>Giảm thời gian báo cáo thủ công, cập nhật dữ liệu real-time theo chu kỳ tự động.</a:t>
            </a:r>
            <a:endParaRPr lang="en-US" sz="650" dirty="0"/>
          </a:p>
        </p:txBody>
      </p:sp>
      <p:pic>
        <p:nvPicPr>
          <p:cNvPr id="12"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03001" y="7504708"/>
            <a:ext cx="165294" cy="165298"/>
          </a:xfrm>
          <a:prstGeom prst="rect">
            <a:avLst/>
          </a:prstGeom>
        </p:spPr>
      </p:pic>
      <p:sp>
        <p:nvSpPr>
          <p:cNvPr id="13" name="Text 8"/>
          <p:cNvSpPr/>
          <p:nvPr/>
        </p:nvSpPr>
        <p:spPr>
          <a:xfrm>
            <a:off x="6419888" y="7533084"/>
            <a:ext cx="5116682" cy="129183"/>
          </a:xfrm>
          <a:prstGeom prst="rect">
            <a:avLst/>
          </a:prstGeom>
          <a:noFill/>
          <a:ln/>
        </p:spPr>
        <p:txBody>
          <a:bodyPr wrap="none" lIns="0" tIns="0" rIns="0" bIns="0" rtlCol="0" anchor="t"/>
          <a:lstStyle/>
          <a:p>
            <a:pPr algn="l" indent="0" marL="0">
              <a:lnSpc>
                <a:spcPct val="104000"/>
              </a:lnSpc>
              <a:buNone/>
            </a:pPr>
            <a:r>
              <a:rPr lang="en-US" sz="800" dirty="0">
                <a:solidFill>
                  <a:srgbClr val="2C2926"/>
                </a:solidFill>
                <a:latin typeface="Bricolage Grotesque SemiBold" pitchFamily="34" charset="0"/>
                <a:ea typeface="Bricolage Grotesque SemiBold" pitchFamily="34" charset="-122"/>
                <a:cs typeface="Bricolage Grotesque SemiBold" pitchFamily="34" charset="-120"/>
              </a:rPr>
              <a:t>Quyết định nhanh chóng</a:t>
            </a:r>
            <a:endParaRPr lang="en-US" sz="800" dirty="0"/>
          </a:p>
        </p:txBody>
      </p:sp>
      <p:sp>
        <p:nvSpPr>
          <p:cNvPr id="14" name="Text 9"/>
          <p:cNvSpPr/>
          <p:nvPr/>
        </p:nvSpPr>
        <p:spPr>
          <a:xfrm>
            <a:off x="6419888" y="7703542"/>
            <a:ext cx="5116682" cy="99120"/>
          </a:xfrm>
          <a:prstGeom prst="rect">
            <a:avLst/>
          </a:prstGeom>
          <a:noFill/>
          <a:ln/>
        </p:spPr>
        <p:txBody>
          <a:bodyPr wrap="none" lIns="0" tIns="0" rIns="0" bIns="0" rtlCol="0" anchor="t"/>
          <a:lstStyle/>
          <a:p>
            <a:pPr algn="l" indent="0" marL="0">
              <a:lnSpc>
                <a:spcPct val="100000"/>
              </a:lnSpc>
              <a:buNone/>
            </a:pPr>
            <a:r>
              <a:rPr lang="en-US" sz="650" dirty="0">
                <a:solidFill>
                  <a:srgbClr val="2C2926"/>
                </a:solidFill>
                <a:latin typeface="Inter" pitchFamily="34" charset="0"/>
                <a:ea typeface="Inter" pitchFamily="34" charset="-122"/>
                <a:cs typeface="Inter" pitchFamily="34" charset="-120"/>
              </a:rPr>
              <a:t>Hỗ trợ ra quyết định dựa trên dữ liệu — không cần chờ báo cáo định kỳ từ team phân tích.</a:t>
            </a:r>
            <a:endParaRPr lang="en-US" sz="650" dirty="0"/>
          </a:p>
        </p:txBody>
      </p:sp>
      <p:pic>
        <p:nvPicPr>
          <p:cNvPr id="15"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03001" y="7885311"/>
            <a:ext cx="165294" cy="165298"/>
          </a:xfrm>
          <a:prstGeom prst="rect">
            <a:avLst/>
          </a:prstGeom>
        </p:spPr>
      </p:pic>
      <p:sp>
        <p:nvSpPr>
          <p:cNvPr id="16" name="Text 10"/>
          <p:cNvSpPr/>
          <p:nvPr/>
        </p:nvSpPr>
        <p:spPr>
          <a:xfrm>
            <a:off x="6419888" y="7913688"/>
            <a:ext cx="5116682" cy="129183"/>
          </a:xfrm>
          <a:prstGeom prst="rect">
            <a:avLst/>
          </a:prstGeom>
          <a:noFill/>
          <a:ln/>
        </p:spPr>
        <p:txBody>
          <a:bodyPr wrap="none" lIns="0" tIns="0" rIns="0" bIns="0" rtlCol="0" anchor="t"/>
          <a:lstStyle/>
          <a:p>
            <a:pPr algn="l" indent="0" marL="0">
              <a:lnSpc>
                <a:spcPct val="104000"/>
              </a:lnSpc>
              <a:buNone/>
            </a:pPr>
            <a:r>
              <a:rPr lang="en-US" sz="800" dirty="0">
                <a:solidFill>
                  <a:srgbClr val="2C2926"/>
                </a:solidFill>
                <a:latin typeface="Bricolage Grotesque SemiBold" pitchFamily="34" charset="0"/>
                <a:ea typeface="Bricolage Grotesque SemiBold" pitchFamily="34" charset="-122"/>
                <a:cs typeface="Bricolage Grotesque SemiBold" pitchFamily="34" charset="-120"/>
              </a:rPr>
              <a:t>Linh hoạt phân tích</a:t>
            </a:r>
            <a:endParaRPr lang="en-US" sz="800" dirty="0"/>
          </a:p>
        </p:txBody>
      </p:sp>
      <p:sp>
        <p:nvSpPr>
          <p:cNvPr id="17" name="Text 11"/>
          <p:cNvSpPr/>
          <p:nvPr/>
        </p:nvSpPr>
        <p:spPr>
          <a:xfrm>
            <a:off x="6419888" y="8084145"/>
            <a:ext cx="5116682" cy="99120"/>
          </a:xfrm>
          <a:prstGeom prst="rect">
            <a:avLst/>
          </a:prstGeom>
          <a:noFill/>
          <a:ln/>
        </p:spPr>
        <p:txBody>
          <a:bodyPr wrap="none" lIns="0" tIns="0" rIns="0" bIns="0" rtlCol="0" anchor="t"/>
          <a:lstStyle/>
          <a:p>
            <a:pPr algn="l" indent="0" marL="0">
              <a:lnSpc>
                <a:spcPct val="100000"/>
              </a:lnSpc>
              <a:buNone/>
            </a:pPr>
            <a:r>
              <a:rPr lang="en-US" sz="650" dirty="0">
                <a:solidFill>
                  <a:srgbClr val="2C2926"/>
                </a:solidFill>
                <a:latin typeface="Inter" pitchFamily="34" charset="0"/>
                <a:ea typeface="Inter" pitchFamily="34" charset="-122"/>
                <a:cs typeface="Inter" pitchFamily="34" charset="-120"/>
              </a:rPr>
              <a:t>Bộ lọc động cho phép drill-down sâu theo khu vực, thời gian và định dạng nội dung.</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641648"/>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2C2926"/>
                </a:solidFill>
                <a:latin typeface="Bricolage Grotesque SemiBold" pitchFamily="34" charset="0"/>
                <a:ea typeface="Bricolage Grotesque SemiBold" pitchFamily="34" charset="-122"/>
                <a:cs typeface="Bricolage Grotesque SemiBold" pitchFamily="34" charset="-120"/>
              </a:rPr>
              <a:t>Đề xuất Chiến lược (Actionable Recommendations)</a:t>
            </a:r>
            <a:endParaRPr lang="en-US" sz="32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489075"/>
            <a:ext cx="5351725" cy="2280940"/>
          </a:xfrm>
          <a:prstGeom prst="rect">
            <a:avLst/>
          </a:prstGeom>
        </p:spPr>
      </p:pic>
      <p:sp>
        <p:nvSpPr>
          <p:cNvPr id="4" name="Text 1"/>
          <p:cNvSpPr/>
          <p:nvPr/>
        </p:nvSpPr>
        <p:spPr>
          <a:xfrm>
            <a:off x="3213317" y="1597918"/>
            <a:ext cx="248041" cy="310059"/>
          </a:xfrm>
          <a:prstGeom prst="rect">
            <a:avLst/>
          </a:prstGeom>
          <a:noFill/>
          <a:ln/>
        </p:spPr>
        <p:txBody>
          <a:bodyPr wrap="none" lIns="0" tIns="0" rIns="0" bIns="0" rtlCol="0" anchor="ctr"/>
          <a:lstStyle/>
          <a:p>
            <a:pPr algn="ctr" indent="0" marL="0">
              <a:lnSpc>
                <a:spcPct val="100000"/>
              </a:lnSpc>
              <a:buNone/>
            </a:pPr>
            <a:r>
              <a:rPr lang="en-US" sz="1950" dirty="0">
                <a:solidFill>
                  <a:srgbClr val="2C2926"/>
                </a:solidFill>
                <a:latin typeface="Bricolage Grotesque SemiBold" pitchFamily="34" charset="0"/>
                <a:ea typeface="Bricolage Grotesque SemiBold" pitchFamily="34" charset="-122"/>
                <a:cs typeface="Bricolage Grotesque SemiBold" pitchFamily="34" charset="-120"/>
              </a:rPr>
              <a:t>1</a:t>
            </a:r>
            <a:endParaRPr lang="en-US" sz="1950" dirty="0"/>
          </a:p>
        </p:txBody>
      </p:sp>
      <p:sp>
        <p:nvSpPr>
          <p:cNvPr id="5" name="Text 2"/>
          <p:cNvSpPr/>
          <p:nvPr/>
        </p:nvSpPr>
        <p:spPr>
          <a:xfrm>
            <a:off x="845819" y="2169517"/>
            <a:ext cx="4983038" cy="258465"/>
          </a:xfrm>
          <a:prstGeom prst="rect">
            <a:avLst/>
          </a:prstGeom>
          <a:noFill/>
          <a:ln/>
        </p:spPr>
        <p:txBody>
          <a:bodyPr wrap="none" lIns="0" tIns="0" rIns="0" bIns="0" rtlCol="0" anchor="t"/>
          <a:lstStyle/>
          <a:p>
            <a:pPr algn="l" indent="0" marL="0">
              <a:lnSpc>
                <a:spcPct val="104000"/>
              </a:lnSpc>
              <a:buNone/>
            </a:pPr>
            <a:r>
              <a:rPr lang="en-US" sz="1600" dirty="0">
                <a:solidFill>
                  <a:srgbClr val="2C2926"/>
                </a:solidFill>
                <a:latin typeface="Bricolage Grotesque SemiBold" pitchFamily="34" charset="0"/>
                <a:ea typeface="Bricolage Grotesque SemiBold" pitchFamily="34" charset="-122"/>
                <a:cs typeface="Bricolage Grotesque SemiBold" pitchFamily="34" charset="-120"/>
              </a:rPr>
              <a:t>Phân bổ ngân sách khu vực</a:t>
            </a:r>
            <a:endParaRPr lang="en-US" sz="1600" dirty="0"/>
          </a:p>
        </p:txBody>
      </p:sp>
      <p:sp>
        <p:nvSpPr>
          <p:cNvPr id="6" name="Text 3"/>
          <p:cNvSpPr/>
          <p:nvPr/>
        </p:nvSpPr>
        <p:spPr>
          <a:xfrm>
            <a:off x="845819" y="2527201"/>
            <a:ext cx="4983038"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Đầu tư mua bản quyền phim rạp tại </a:t>
            </a:r>
            <a:pPr algn="l" indent="0" marL="0">
              <a:lnSpc>
                <a:spcPct val="133000"/>
              </a:lnSpc>
              <a:buNone/>
            </a:pPr>
            <a:r>
              <a:rPr lang="en-US" sz="1300" b="1" dirty="0">
                <a:solidFill>
                  <a:srgbClr val="2C2926"/>
                </a:solidFill>
                <a:latin typeface="Inter Bold" pitchFamily="34" charset="0"/>
                <a:ea typeface="Inter Bold" pitchFamily="34" charset="-122"/>
                <a:cs typeface="Inter Bold" pitchFamily="34" charset="-120"/>
              </a:rPr>
              <a:t>Ấn Độ</a:t>
            </a:r>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 (92% Movie — thị trường Bollywood); ưu tiên thầu các dự án </a:t>
            </a:r>
            <a:pPr algn="l" indent="0" marL="0">
              <a:lnSpc>
                <a:spcPct val="133000"/>
              </a:lnSpc>
              <a:buNone/>
            </a:pPr>
            <a:r>
              <a:rPr lang="en-US" sz="1300" b="1" dirty="0">
                <a:solidFill>
                  <a:srgbClr val="2C2926"/>
                </a:solidFill>
                <a:latin typeface="Inter Bold" pitchFamily="34" charset="0"/>
                <a:ea typeface="Inter Bold" pitchFamily="34" charset="-122"/>
                <a:cs typeface="Inter Bold" pitchFamily="34" charset="-120"/>
              </a:rPr>
              <a:t>series dài kỳ</a:t>
            </a:r>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 tại Hàn Quốc và Nhật Bản (K-Drama, Anime) để giữ chân thuê bao hiệu quả nhất.</a:t>
            </a:r>
            <a:endParaRPr lang="en-US" sz="130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78495" y="1489075"/>
            <a:ext cx="5351725" cy="2280940"/>
          </a:xfrm>
          <a:prstGeom prst="rect">
            <a:avLst/>
          </a:prstGeom>
        </p:spPr>
      </p:pic>
      <p:sp>
        <p:nvSpPr>
          <p:cNvPr id="8" name="Text 4"/>
          <p:cNvSpPr/>
          <p:nvPr/>
        </p:nvSpPr>
        <p:spPr>
          <a:xfrm>
            <a:off x="8730337" y="1597918"/>
            <a:ext cx="248041" cy="310059"/>
          </a:xfrm>
          <a:prstGeom prst="rect">
            <a:avLst/>
          </a:prstGeom>
          <a:noFill/>
          <a:ln/>
        </p:spPr>
        <p:txBody>
          <a:bodyPr wrap="none" lIns="0" tIns="0" rIns="0" bIns="0" rtlCol="0" anchor="ctr"/>
          <a:lstStyle/>
          <a:p>
            <a:pPr algn="ctr" indent="0" marL="0">
              <a:lnSpc>
                <a:spcPct val="100000"/>
              </a:lnSpc>
              <a:buNone/>
            </a:pPr>
            <a:r>
              <a:rPr lang="en-US" sz="1950" dirty="0">
                <a:solidFill>
                  <a:srgbClr val="2C2926"/>
                </a:solidFill>
                <a:latin typeface="Bricolage Grotesque SemiBold" pitchFamily="34" charset="0"/>
                <a:ea typeface="Bricolage Grotesque SemiBold" pitchFamily="34" charset="-122"/>
                <a:cs typeface="Bricolage Grotesque SemiBold" pitchFamily="34" charset="-120"/>
              </a:rPr>
              <a:t>2</a:t>
            </a:r>
            <a:endParaRPr lang="en-US" sz="1950" dirty="0"/>
          </a:p>
        </p:txBody>
      </p:sp>
      <p:sp>
        <p:nvSpPr>
          <p:cNvPr id="9" name="Text 5"/>
          <p:cNvSpPr/>
          <p:nvPr/>
        </p:nvSpPr>
        <p:spPr>
          <a:xfrm>
            <a:off x="6362838" y="2169517"/>
            <a:ext cx="4983038" cy="258465"/>
          </a:xfrm>
          <a:prstGeom prst="rect">
            <a:avLst/>
          </a:prstGeom>
          <a:noFill/>
          <a:ln/>
        </p:spPr>
        <p:txBody>
          <a:bodyPr wrap="none" lIns="0" tIns="0" rIns="0" bIns="0" rtlCol="0" anchor="t"/>
          <a:lstStyle/>
          <a:p>
            <a:pPr algn="l" indent="0" marL="0">
              <a:lnSpc>
                <a:spcPct val="104000"/>
              </a:lnSpc>
              <a:buNone/>
            </a:pPr>
            <a:r>
              <a:rPr lang="en-US" sz="1600" dirty="0">
                <a:solidFill>
                  <a:srgbClr val="2C2926"/>
                </a:solidFill>
                <a:latin typeface="Bricolage Grotesque SemiBold" pitchFamily="34" charset="0"/>
                <a:ea typeface="Bricolage Grotesque SemiBold" pitchFamily="34" charset="-122"/>
                <a:cs typeface="Bricolage Grotesque SemiBold" pitchFamily="34" charset="-120"/>
              </a:rPr>
              <a:t>Khắc phục Drop-off TV Show</a:t>
            </a:r>
            <a:endParaRPr lang="en-US" sz="1600" dirty="0"/>
          </a:p>
        </p:txBody>
      </p:sp>
      <p:sp>
        <p:nvSpPr>
          <p:cNvPr id="10" name="Text 6"/>
          <p:cNvSpPr/>
          <p:nvPr/>
        </p:nvSpPr>
        <p:spPr>
          <a:xfrm>
            <a:off x="6362838" y="2527201"/>
            <a:ext cx="4983038"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Đánh giá lại chất lượng và chiến lược marketing cho các </a:t>
            </a:r>
            <a:pPr algn="l" indent="0" marL="0">
              <a:lnSpc>
                <a:spcPct val="133000"/>
              </a:lnSpc>
              <a:buNone/>
            </a:pPr>
            <a:r>
              <a:rPr lang="en-US" sz="1300" b="1" dirty="0">
                <a:solidFill>
                  <a:srgbClr val="2C2926"/>
                </a:solidFill>
                <a:latin typeface="Inter Bold" pitchFamily="34" charset="0"/>
                <a:ea typeface="Inter Bold" pitchFamily="34" charset="-122"/>
                <a:cs typeface="Inter Bold" pitchFamily="34" charset="-120"/>
              </a:rPr>
              <a:t>TV Show mùa 1</a:t>
            </a:r>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 (67,2% dừng lại không gia hạn); tăng tỷ lệ sản xuất tiếp </a:t>
            </a:r>
            <a:pPr algn="l" indent="0" marL="0">
              <a:lnSpc>
                <a:spcPct val="133000"/>
              </a:lnSpc>
              <a:buNone/>
            </a:pPr>
            <a:r>
              <a:rPr lang="en-US" sz="1300" b="1" dirty="0">
                <a:solidFill>
                  <a:srgbClr val="2C2926"/>
                </a:solidFill>
                <a:latin typeface="Inter Bold" pitchFamily="34" charset="0"/>
                <a:ea typeface="Inter Bold" pitchFamily="34" charset="-122"/>
                <a:cs typeface="Inter Bold" pitchFamily="34" charset="-120"/>
              </a:rPr>
              <a:t>mùa 2</a:t>
            </a:r>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 thông qua phân tích hiệu suất xem và retention rate.</a:t>
            </a:r>
            <a:endParaRPr lang="en-US" sz="130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935313"/>
            <a:ext cx="5351725" cy="2280940"/>
          </a:xfrm>
          <a:prstGeom prst="rect">
            <a:avLst/>
          </a:prstGeom>
        </p:spPr>
      </p:pic>
      <p:sp>
        <p:nvSpPr>
          <p:cNvPr id="12" name="Text 7"/>
          <p:cNvSpPr/>
          <p:nvPr/>
        </p:nvSpPr>
        <p:spPr>
          <a:xfrm>
            <a:off x="3213317" y="4044156"/>
            <a:ext cx="248041" cy="310059"/>
          </a:xfrm>
          <a:prstGeom prst="rect">
            <a:avLst/>
          </a:prstGeom>
          <a:noFill/>
          <a:ln/>
        </p:spPr>
        <p:txBody>
          <a:bodyPr wrap="none" lIns="0" tIns="0" rIns="0" bIns="0" rtlCol="0" anchor="ctr"/>
          <a:lstStyle/>
          <a:p>
            <a:pPr algn="ctr" indent="0" marL="0">
              <a:lnSpc>
                <a:spcPct val="100000"/>
              </a:lnSpc>
              <a:buNone/>
            </a:pPr>
            <a:r>
              <a:rPr lang="en-US" sz="1950" dirty="0">
                <a:solidFill>
                  <a:srgbClr val="2C2926"/>
                </a:solidFill>
                <a:latin typeface="Bricolage Grotesque SemiBold" pitchFamily="34" charset="0"/>
                <a:ea typeface="Bricolage Grotesque SemiBold" pitchFamily="34" charset="-122"/>
                <a:cs typeface="Bricolage Grotesque SemiBold" pitchFamily="34" charset="-120"/>
              </a:rPr>
              <a:t>3</a:t>
            </a:r>
            <a:endParaRPr lang="en-US" sz="1950" dirty="0"/>
          </a:p>
        </p:txBody>
      </p:sp>
      <p:sp>
        <p:nvSpPr>
          <p:cNvPr id="13" name="Text 8"/>
          <p:cNvSpPr/>
          <p:nvPr/>
        </p:nvSpPr>
        <p:spPr>
          <a:xfrm>
            <a:off x="845819" y="4615755"/>
            <a:ext cx="4983038" cy="258465"/>
          </a:xfrm>
          <a:prstGeom prst="rect">
            <a:avLst/>
          </a:prstGeom>
          <a:noFill/>
          <a:ln/>
        </p:spPr>
        <p:txBody>
          <a:bodyPr wrap="none" lIns="0" tIns="0" rIns="0" bIns="0" rtlCol="0" anchor="t"/>
          <a:lstStyle/>
          <a:p>
            <a:pPr algn="l" indent="0" marL="0">
              <a:lnSpc>
                <a:spcPct val="104000"/>
              </a:lnSpc>
              <a:buNone/>
            </a:pPr>
            <a:r>
              <a:rPr lang="en-US" sz="1600" dirty="0">
                <a:solidFill>
                  <a:srgbClr val="2C2926"/>
                </a:solidFill>
                <a:latin typeface="Bricolage Grotesque SemiBold" pitchFamily="34" charset="0"/>
                <a:ea typeface="Bricolage Grotesque SemiBold" pitchFamily="34" charset="-122"/>
                <a:cs typeface="Bricolage Grotesque SemiBold" pitchFamily="34" charset="-120"/>
              </a:rPr>
              <a:t>Tối ưu hóa lịch phát hành</a:t>
            </a:r>
            <a:endParaRPr lang="en-US" sz="1600" dirty="0"/>
          </a:p>
        </p:txBody>
      </p:sp>
      <p:sp>
        <p:nvSpPr>
          <p:cNvPr id="14" name="Text 9"/>
          <p:cNvSpPr/>
          <p:nvPr/>
        </p:nvSpPr>
        <p:spPr>
          <a:xfrm>
            <a:off x="845819" y="4973439"/>
            <a:ext cx="4983038"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Đẩy mạnh các dự án </a:t>
            </a:r>
            <a:pPr algn="l" indent="0" marL="0">
              <a:lnSpc>
                <a:spcPct val="133000"/>
              </a:lnSpc>
              <a:buNone/>
            </a:pPr>
            <a:r>
              <a:rPr lang="en-US" sz="1300" b="1" dirty="0">
                <a:solidFill>
                  <a:srgbClr val="2C2926"/>
                </a:solidFill>
                <a:latin typeface="Inter Bold" pitchFamily="34" charset="0"/>
                <a:ea typeface="Inter Bold" pitchFamily="34" charset="-122"/>
                <a:cs typeface="Inter Bold" pitchFamily="34" charset="-120"/>
              </a:rPr>
              <a:t>"bom tấn" (Tentpole)</a:t>
            </a:r>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 vào sát </a:t>
            </a:r>
            <a:pPr algn="l" indent="0" marL="0">
              <a:lnSpc>
                <a:spcPct val="133000"/>
              </a:lnSpc>
              <a:buNone/>
            </a:pPr>
            <a:r>
              <a:rPr lang="en-US" sz="1300" b="1" dirty="0">
                <a:solidFill>
                  <a:srgbClr val="2C2926"/>
                </a:solidFill>
                <a:latin typeface="Inter Bold" pitchFamily="34" charset="0"/>
                <a:ea typeface="Inter Bold" pitchFamily="34" charset="-122"/>
                <a:cs typeface="Inter Bold" pitchFamily="34" charset="-120"/>
              </a:rPr>
              <a:t>Tháng 7</a:t>
            </a:r>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 (827 phim — mùa hè) và </a:t>
            </a:r>
            <a:pPr algn="l" indent="0" marL="0">
              <a:lnSpc>
                <a:spcPct val="133000"/>
              </a:lnSpc>
              <a:buNone/>
            </a:pPr>
            <a:r>
              <a:rPr lang="en-US" sz="1300" b="1" dirty="0">
                <a:solidFill>
                  <a:srgbClr val="2C2926"/>
                </a:solidFill>
                <a:latin typeface="Inter Bold" pitchFamily="34" charset="0"/>
                <a:ea typeface="Inter Bold" pitchFamily="34" charset="-122"/>
                <a:cs typeface="Inter Bold" pitchFamily="34" charset="-120"/>
              </a:rPr>
              <a:t>Tháng 12</a:t>
            </a:r>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 (812 phim — Giáng sinh) để tối đa hóa lượt xem; cân bằng phát hành suốt năm để duy trì sự hấp dẫn liên tục.</a:t>
            </a:r>
            <a:endParaRPr lang="en-US" sz="130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78495" y="3935313"/>
            <a:ext cx="5351725" cy="2280940"/>
          </a:xfrm>
          <a:prstGeom prst="rect">
            <a:avLst/>
          </a:prstGeom>
        </p:spPr>
      </p:pic>
      <p:sp>
        <p:nvSpPr>
          <p:cNvPr id="16" name="Text 10"/>
          <p:cNvSpPr/>
          <p:nvPr/>
        </p:nvSpPr>
        <p:spPr>
          <a:xfrm>
            <a:off x="8730337" y="4044156"/>
            <a:ext cx="248041" cy="310059"/>
          </a:xfrm>
          <a:prstGeom prst="rect">
            <a:avLst/>
          </a:prstGeom>
          <a:noFill/>
          <a:ln/>
        </p:spPr>
        <p:txBody>
          <a:bodyPr wrap="none" lIns="0" tIns="0" rIns="0" bIns="0" rtlCol="0" anchor="ctr"/>
          <a:lstStyle/>
          <a:p>
            <a:pPr algn="ctr" indent="0" marL="0">
              <a:lnSpc>
                <a:spcPct val="100000"/>
              </a:lnSpc>
              <a:buNone/>
            </a:pPr>
            <a:r>
              <a:rPr lang="en-US" sz="1950" dirty="0">
                <a:solidFill>
                  <a:srgbClr val="2C2926"/>
                </a:solidFill>
                <a:latin typeface="Bricolage Grotesque SemiBold" pitchFamily="34" charset="0"/>
                <a:ea typeface="Bricolage Grotesque SemiBold" pitchFamily="34" charset="-122"/>
                <a:cs typeface="Bricolage Grotesque SemiBold" pitchFamily="34" charset="-120"/>
              </a:rPr>
              <a:t>4</a:t>
            </a:r>
            <a:endParaRPr lang="en-US" sz="1950" dirty="0"/>
          </a:p>
        </p:txBody>
      </p:sp>
      <p:sp>
        <p:nvSpPr>
          <p:cNvPr id="17" name="Text 11"/>
          <p:cNvSpPr/>
          <p:nvPr/>
        </p:nvSpPr>
        <p:spPr>
          <a:xfrm>
            <a:off x="6362838" y="4615755"/>
            <a:ext cx="4983038" cy="258465"/>
          </a:xfrm>
          <a:prstGeom prst="rect">
            <a:avLst/>
          </a:prstGeom>
          <a:noFill/>
          <a:ln/>
        </p:spPr>
        <p:txBody>
          <a:bodyPr wrap="none" lIns="0" tIns="0" rIns="0" bIns="0" rtlCol="0" anchor="t"/>
          <a:lstStyle/>
          <a:p>
            <a:pPr algn="l" indent="0" marL="0">
              <a:lnSpc>
                <a:spcPct val="104000"/>
              </a:lnSpc>
              <a:buNone/>
            </a:pPr>
            <a:r>
              <a:rPr lang="en-US" sz="1600" dirty="0">
                <a:solidFill>
                  <a:srgbClr val="2C2926"/>
                </a:solidFill>
                <a:latin typeface="Bricolage Grotesque SemiBold" pitchFamily="34" charset="0"/>
                <a:ea typeface="Bricolage Grotesque SemiBold" pitchFamily="34" charset="-122"/>
                <a:cs typeface="Bricolage Grotesque SemiBold" pitchFamily="34" charset="-120"/>
              </a:rPr>
              <a:t>Duy trì nội dung tươi mới</a:t>
            </a:r>
            <a:endParaRPr lang="en-US" sz="1600" dirty="0"/>
          </a:p>
        </p:txBody>
      </p:sp>
      <p:sp>
        <p:nvSpPr>
          <p:cNvPr id="18" name="Text 12"/>
          <p:cNvSpPr/>
          <p:nvPr/>
        </p:nvSpPr>
        <p:spPr>
          <a:xfrm>
            <a:off x="6362838" y="4973439"/>
            <a:ext cx="4983038"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Duy trì tỷ lệ </a:t>
            </a:r>
            <a:pPr algn="l" indent="0" marL="0">
              <a:lnSpc>
                <a:spcPct val="133000"/>
              </a:lnSpc>
              <a:buNone/>
            </a:pPr>
            <a:r>
              <a:rPr lang="en-US" sz="1300" b="1" dirty="0">
                <a:solidFill>
                  <a:srgbClr val="2C2926"/>
                </a:solidFill>
                <a:latin typeface="Inter Bold" pitchFamily="34" charset="0"/>
                <a:ea typeface="Inter Bold" pitchFamily="34" charset="-122"/>
                <a:cs typeface="Inter Bold" pitchFamily="34" charset="-120"/>
              </a:rPr>
              <a:t>55% nội dung mới/năm</a:t>
            </a:r>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 (phát hành trong vòng 1 năm kể từ sản xuất); xem xét tăng tỷ lệ này tại các thị trường cạnh tranh cao để giữ lợi thế cạnh tranh.</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798836"/>
            <a:ext cx="10868745" cy="516731"/>
          </a:xfrm>
          <a:prstGeom prst="rect">
            <a:avLst/>
          </a:prstGeom>
          <a:noFill/>
          <a:ln/>
        </p:spPr>
        <p:txBody>
          <a:bodyPr wrap="none" lIns="0" tIns="0" rIns="0" bIns="0" rtlCol="0" anchor="t"/>
          <a:lstStyle/>
          <a:p>
            <a:pPr algn="ctr" indent="0" marL="0">
              <a:lnSpc>
                <a:spcPct val="104000"/>
              </a:lnSpc>
              <a:buNone/>
            </a:pPr>
            <a:r>
              <a:rPr lang="en-US" sz="3250" dirty="0">
                <a:solidFill>
                  <a:srgbClr val="2C2926"/>
                </a:solidFill>
                <a:latin typeface="Bricolage Grotesque SemiBold" pitchFamily="34" charset="0"/>
                <a:ea typeface="Bricolage Grotesque SemiBold" pitchFamily="34" charset="-122"/>
                <a:cs typeface="Bricolage Grotesque SemiBold" pitchFamily="34" charset="-120"/>
              </a:rPr>
              <a:t>Thank You &amp; Q&amp;A</a:t>
            </a:r>
            <a:endParaRPr lang="en-US" sz="3250" dirty="0"/>
          </a:p>
        </p:txBody>
      </p:sp>
      <p:sp>
        <p:nvSpPr>
          <p:cNvPr id="3" name="Text 1"/>
          <p:cNvSpPr/>
          <p:nvPr/>
        </p:nvSpPr>
        <p:spPr>
          <a:xfrm>
            <a:off x="356682" y="2646263"/>
            <a:ext cx="11478330" cy="264616"/>
          </a:xfrm>
          <a:prstGeom prst="rect">
            <a:avLst/>
          </a:prstGeom>
          <a:noFill/>
          <a:ln/>
        </p:spPr>
        <p:txBody>
          <a:bodyPr wrap="none" lIns="0" tIns="0" rIns="0" bIns="0" rtlCol="0" anchor="t"/>
          <a:lstStyle/>
          <a:p>
            <a:pPr algn="ctr" indent="0" marL="0">
              <a:lnSpc>
                <a:spcPct val="133000"/>
              </a:lnSpc>
              <a:buNone/>
            </a:pPr>
            <a:r>
              <a:rPr lang="en-US" sz="1300" dirty="0">
                <a:solidFill>
                  <a:srgbClr val="2C2926"/>
                </a:solidFill>
                <a:latin typeface="Inter" pitchFamily="34" charset="0"/>
                <a:ea typeface="Inter" pitchFamily="34" charset="-122"/>
                <a:cs typeface="Inter" pitchFamily="34" charset="-120"/>
              </a:rPr>
              <a:t>Cảm ơn quý vị đã lắng nghe. Rất mong nhận được phản hồi và câu hỏi từ các anh chị.</a:t>
            </a:r>
            <a:endParaRPr lang="en-US" sz="1300" dirty="0"/>
          </a:p>
        </p:txBody>
      </p:sp>
      <p:sp>
        <p:nvSpPr>
          <p:cNvPr id="4" name="Text 2"/>
          <p:cNvSpPr/>
          <p:nvPr/>
        </p:nvSpPr>
        <p:spPr>
          <a:xfrm>
            <a:off x="661475" y="3158927"/>
            <a:ext cx="10868745" cy="258465"/>
          </a:xfrm>
          <a:prstGeom prst="rect">
            <a:avLst/>
          </a:prstGeom>
          <a:noFill/>
          <a:ln/>
        </p:spPr>
        <p:txBody>
          <a:bodyPr wrap="none" lIns="0" tIns="0" rIns="0" bIns="0" rtlCol="0" anchor="t"/>
          <a:lstStyle/>
          <a:p>
            <a:pPr algn="l" indent="0" marL="0">
              <a:lnSpc>
                <a:spcPct val="104000"/>
              </a:lnSpc>
              <a:buNone/>
            </a:pPr>
            <a:r>
              <a:rPr lang="en-US" sz="1600" dirty="0">
                <a:solidFill>
                  <a:srgbClr val="2C2926"/>
                </a:solidFill>
                <a:latin typeface="Bricolage Grotesque SemiBold" pitchFamily="34" charset="0"/>
                <a:ea typeface="Bricolage Grotesque SemiBold" pitchFamily="34" charset="-122"/>
                <a:cs typeface="Bricolage Grotesque SemiBold" pitchFamily="34" charset="-120"/>
              </a:rPr>
              <a:t>Tóm tắt nhanh</a:t>
            </a:r>
            <a:endParaRPr lang="en-US" sz="1600" dirty="0"/>
          </a:p>
        </p:txBody>
      </p:sp>
      <p:sp>
        <p:nvSpPr>
          <p:cNvPr id="5" name="Text 3"/>
          <p:cNvSpPr/>
          <p:nvPr/>
        </p:nvSpPr>
        <p:spPr>
          <a:xfrm>
            <a:off x="661475" y="3665438"/>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2C2926"/>
                </a:solidFill>
                <a:latin typeface="Bricolage Grotesque Light" pitchFamily="34" charset="0"/>
                <a:ea typeface="Bricolage Grotesque Light" pitchFamily="34" charset="-122"/>
                <a:cs typeface="Bricolage Grotesque Light" pitchFamily="34" charset="-120"/>
              </a:rPr>
              <a:t>01</a:t>
            </a:r>
            <a:endParaRPr lang="en-US" sz="1300" dirty="0"/>
          </a:p>
        </p:txBody>
      </p:sp>
      <p:sp>
        <p:nvSpPr>
          <p:cNvPr id="6" name="Shape 4"/>
          <p:cNvSpPr/>
          <p:nvPr/>
        </p:nvSpPr>
        <p:spPr>
          <a:xfrm>
            <a:off x="661475" y="3927376"/>
            <a:ext cx="3512653" cy="19050"/>
          </a:xfrm>
          <a:prstGeom prst="rect">
            <a:avLst/>
          </a:prstGeom>
          <a:solidFill>
            <a:srgbClr val="DA9B49"/>
          </a:solidFill>
          <a:ln/>
        </p:spPr>
      </p:sp>
      <p:sp>
        <p:nvSpPr>
          <p:cNvPr id="7" name="Text 5"/>
          <p:cNvSpPr/>
          <p:nvPr/>
        </p:nvSpPr>
        <p:spPr>
          <a:xfrm>
            <a:off x="661475" y="4048125"/>
            <a:ext cx="3512653" cy="258465"/>
          </a:xfrm>
          <a:prstGeom prst="rect">
            <a:avLst/>
          </a:prstGeom>
          <a:noFill/>
          <a:ln/>
        </p:spPr>
        <p:txBody>
          <a:bodyPr wrap="none" lIns="0" tIns="0" rIns="0" bIns="0" rtlCol="0" anchor="t"/>
          <a:lstStyle/>
          <a:p>
            <a:pPr algn="l" indent="0" marL="0">
              <a:lnSpc>
                <a:spcPct val="104000"/>
              </a:lnSpc>
              <a:buNone/>
            </a:pPr>
            <a:r>
              <a:rPr lang="en-US" sz="1600" dirty="0">
                <a:solidFill>
                  <a:srgbClr val="2C2926"/>
                </a:solidFill>
                <a:latin typeface="Bricolage Grotesque SemiBold" pitchFamily="34" charset="0"/>
                <a:ea typeface="Bricolage Grotesque SemiBold" pitchFamily="34" charset="-122"/>
                <a:cs typeface="Bricolage Grotesque SemiBold" pitchFamily="34" charset="-120"/>
              </a:rPr>
              <a:t>8.793 bản ghi</a:t>
            </a:r>
            <a:endParaRPr lang="en-US" sz="1600" dirty="0"/>
          </a:p>
        </p:txBody>
      </p:sp>
      <p:sp>
        <p:nvSpPr>
          <p:cNvPr id="8" name="Text 6"/>
          <p:cNvSpPr/>
          <p:nvPr/>
        </p:nvSpPr>
        <p:spPr>
          <a:xfrm>
            <a:off x="661475" y="4405809"/>
            <a:ext cx="3512653" cy="264616"/>
          </a:xfrm>
          <a:prstGeom prst="rect">
            <a:avLst/>
          </a:prstGeom>
          <a:noFill/>
          <a:ln/>
        </p:spPr>
        <p:txBody>
          <a:bodyPr wrap="none" lIns="0" tIns="0" rIns="0" bIns="0" rtlCol="0" anchor="t"/>
          <a:lstStyle/>
          <a:p>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Đã qua làm sạch và chuẩn hóa với Python</a:t>
            </a:r>
            <a:endParaRPr lang="en-US" sz="1300" dirty="0"/>
          </a:p>
        </p:txBody>
      </p:sp>
      <p:sp>
        <p:nvSpPr>
          <p:cNvPr id="9" name="Text 7"/>
          <p:cNvSpPr/>
          <p:nvPr/>
        </p:nvSpPr>
        <p:spPr>
          <a:xfrm>
            <a:off x="4339422" y="3665438"/>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2C2926"/>
                </a:solidFill>
                <a:latin typeface="Bricolage Grotesque Light" pitchFamily="34" charset="0"/>
                <a:ea typeface="Bricolage Grotesque Light" pitchFamily="34" charset="-122"/>
                <a:cs typeface="Bricolage Grotesque Light" pitchFamily="34" charset="-120"/>
              </a:rPr>
              <a:t>02</a:t>
            </a:r>
            <a:endParaRPr lang="en-US" sz="1300" dirty="0"/>
          </a:p>
        </p:txBody>
      </p:sp>
      <p:sp>
        <p:nvSpPr>
          <p:cNvPr id="10" name="Shape 8"/>
          <p:cNvSpPr/>
          <p:nvPr/>
        </p:nvSpPr>
        <p:spPr>
          <a:xfrm>
            <a:off x="4339422" y="3927376"/>
            <a:ext cx="3512752" cy="19050"/>
          </a:xfrm>
          <a:prstGeom prst="rect">
            <a:avLst/>
          </a:prstGeom>
          <a:solidFill>
            <a:srgbClr val="DA9B49"/>
          </a:solidFill>
          <a:ln/>
        </p:spPr>
      </p:sp>
      <p:sp>
        <p:nvSpPr>
          <p:cNvPr id="11" name="Text 9"/>
          <p:cNvSpPr/>
          <p:nvPr/>
        </p:nvSpPr>
        <p:spPr>
          <a:xfrm>
            <a:off x="4339422" y="4048125"/>
            <a:ext cx="3512752" cy="258465"/>
          </a:xfrm>
          <a:prstGeom prst="rect">
            <a:avLst/>
          </a:prstGeom>
          <a:noFill/>
          <a:ln/>
        </p:spPr>
        <p:txBody>
          <a:bodyPr wrap="none" lIns="0" tIns="0" rIns="0" bIns="0" rtlCol="0" anchor="t"/>
          <a:lstStyle/>
          <a:p>
            <a:pPr algn="l" indent="0" marL="0">
              <a:lnSpc>
                <a:spcPct val="104000"/>
              </a:lnSpc>
              <a:buNone/>
            </a:pPr>
            <a:r>
              <a:rPr lang="en-US" sz="1600" dirty="0">
                <a:solidFill>
                  <a:srgbClr val="2C2926"/>
                </a:solidFill>
                <a:latin typeface="Bricolage Grotesque SemiBold" pitchFamily="34" charset="0"/>
                <a:ea typeface="Bricolage Grotesque SemiBold" pitchFamily="34" charset="-122"/>
                <a:cs typeface="Bricolage Grotesque SemiBold" pitchFamily="34" charset="-120"/>
              </a:rPr>
              <a:t>3 thị trường trọng điểm</a:t>
            </a:r>
            <a:endParaRPr lang="en-US" sz="1600" dirty="0"/>
          </a:p>
        </p:txBody>
      </p:sp>
      <p:sp>
        <p:nvSpPr>
          <p:cNvPr id="12" name="Text 10"/>
          <p:cNvSpPr/>
          <p:nvPr/>
        </p:nvSpPr>
        <p:spPr>
          <a:xfrm>
            <a:off x="4339422" y="4405809"/>
            <a:ext cx="3512752"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Ấn Độ, Hàn Quốc, Nhật Bản — chiến lược riêng biệt</a:t>
            </a:r>
            <a:endParaRPr lang="en-US" sz="1300" dirty="0"/>
          </a:p>
        </p:txBody>
      </p:sp>
      <p:sp>
        <p:nvSpPr>
          <p:cNvPr id="13" name="Text 11"/>
          <p:cNvSpPr/>
          <p:nvPr/>
        </p:nvSpPr>
        <p:spPr>
          <a:xfrm>
            <a:off x="8017468" y="3665438"/>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2C2926"/>
                </a:solidFill>
                <a:latin typeface="Bricolage Grotesque Light" pitchFamily="34" charset="0"/>
                <a:ea typeface="Bricolage Grotesque Light" pitchFamily="34" charset="-122"/>
                <a:cs typeface="Bricolage Grotesque Light" pitchFamily="34" charset="-120"/>
              </a:rPr>
              <a:t>03</a:t>
            </a:r>
            <a:endParaRPr lang="en-US" sz="1300" dirty="0"/>
          </a:p>
        </p:txBody>
      </p:sp>
      <p:sp>
        <p:nvSpPr>
          <p:cNvPr id="14" name="Shape 12"/>
          <p:cNvSpPr/>
          <p:nvPr/>
        </p:nvSpPr>
        <p:spPr>
          <a:xfrm>
            <a:off x="8017468" y="3927376"/>
            <a:ext cx="3512653" cy="19050"/>
          </a:xfrm>
          <a:prstGeom prst="rect">
            <a:avLst/>
          </a:prstGeom>
          <a:solidFill>
            <a:srgbClr val="DA9B49"/>
          </a:solidFill>
          <a:ln/>
        </p:spPr>
      </p:sp>
      <p:sp>
        <p:nvSpPr>
          <p:cNvPr id="15" name="Text 13"/>
          <p:cNvSpPr/>
          <p:nvPr/>
        </p:nvSpPr>
        <p:spPr>
          <a:xfrm>
            <a:off x="8017468" y="4048125"/>
            <a:ext cx="3512653" cy="258465"/>
          </a:xfrm>
          <a:prstGeom prst="rect">
            <a:avLst/>
          </a:prstGeom>
          <a:noFill/>
          <a:ln/>
        </p:spPr>
        <p:txBody>
          <a:bodyPr wrap="none" lIns="0" tIns="0" rIns="0" bIns="0" rtlCol="0" anchor="t"/>
          <a:lstStyle/>
          <a:p>
            <a:pPr algn="l" indent="0" marL="0">
              <a:lnSpc>
                <a:spcPct val="104000"/>
              </a:lnSpc>
              <a:buNone/>
            </a:pPr>
            <a:r>
              <a:rPr lang="en-US" sz="1600" dirty="0">
                <a:solidFill>
                  <a:srgbClr val="2C2926"/>
                </a:solidFill>
                <a:latin typeface="Bricolage Grotesque SemiBold" pitchFamily="34" charset="0"/>
                <a:ea typeface="Bricolage Grotesque SemiBold" pitchFamily="34" charset="-122"/>
                <a:cs typeface="Bricolage Grotesque SemiBold" pitchFamily="34" charset="-120"/>
              </a:rPr>
              <a:t>4 đề xuất hành động</a:t>
            </a:r>
            <a:endParaRPr lang="en-US" sz="1600" dirty="0"/>
          </a:p>
        </p:txBody>
      </p:sp>
      <p:sp>
        <p:nvSpPr>
          <p:cNvPr id="16" name="Text 14"/>
          <p:cNvSpPr/>
          <p:nvPr/>
        </p:nvSpPr>
        <p:spPr>
          <a:xfrm>
            <a:off x="8017468" y="4405809"/>
            <a:ext cx="3512653"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2C2926"/>
                </a:solidFill>
                <a:latin typeface="Inter" pitchFamily="34" charset="0"/>
                <a:ea typeface="Inter" pitchFamily="34" charset="-122"/>
                <a:cs typeface="Inter" pitchFamily="34" charset="-120"/>
              </a:rPr>
              <a:t>Ngân sách, drop-off, lịch phát hành, nội dung mới</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2026-09-03T16:58:42Z</dcterms:created>
  <dcterms:modified xsi:type="dcterms:W3CDTF">2026-09-03T16:58:42Z</dcterms:modified>
</cp:coreProperties>
</file>